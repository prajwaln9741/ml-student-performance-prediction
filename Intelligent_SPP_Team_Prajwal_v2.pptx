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9.img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5" r:id="rId1"/>
    <p:sldMasterId id="2147483921" r:id="rId2"/>
    <p:sldMasterId id="2147483939" r:id="rId3"/>
    <p:sldMasterId id="2147483957" r:id="rId4"/>
    <p:sldMasterId id="2147483975" r:id="rId5"/>
    <p:sldMasterId id="2147483987" r:id="rId6"/>
    <p:sldMasterId id="2147484130" r:id="rId7"/>
  </p:sldMasterIdLst>
  <p:notesMasterIdLst>
    <p:notesMasterId r:id="rId25"/>
  </p:notesMasterIdLst>
  <p:sldIdLst>
    <p:sldId id="256" r:id="rId8"/>
    <p:sldId id="257" r:id="rId9"/>
    <p:sldId id="258" r:id="rId10"/>
    <p:sldId id="272" r:id="rId11"/>
    <p:sldId id="267" r:id="rId12"/>
    <p:sldId id="259" r:id="rId13"/>
    <p:sldId id="268" r:id="rId14"/>
    <p:sldId id="260" r:id="rId15"/>
    <p:sldId id="269" r:id="rId16"/>
    <p:sldId id="261" r:id="rId17"/>
    <p:sldId id="270" r:id="rId18"/>
    <p:sldId id="271" r:id="rId19"/>
    <p:sldId id="262" r:id="rId20"/>
    <p:sldId id="263" r:id="rId21"/>
    <p:sldId id="264" r:id="rId22"/>
    <p:sldId id="265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5196" autoAdjust="0"/>
  </p:normalViewPr>
  <p:slideViewPr>
    <p:cSldViewPr snapToGrid="0">
      <p:cViewPr varScale="1">
        <p:scale>
          <a:sx n="98" d="100"/>
          <a:sy n="98" d="100"/>
        </p:scale>
        <p:origin x="144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734A3-EFB0-49FD-858F-BED520DD9E1A}" type="datetimeFigureOut">
              <a:rPr lang="en-IN" smtClean="0"/>
              <a:t>22-04-2025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26258-0FF5-48C4-8F05-56EB094578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18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E26258-0FF5-48C4-8F05-56EB0945784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4010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0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41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41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7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59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92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420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6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238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18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31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7857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25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412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24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5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553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12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buClr>
                <a:schemeClr val="accent1">
                  <a:lumMod val="75000"/>
                </a:schemeClr>
              </a:buClr>
              <a:defRPr/>
            </a:lvl1pPr>
            <a:lvl2pPr>
              <a:buClr>
                <a:schemeClr val="accent1">
                  <a:lumMod val="75000"/>
                </a:schemeClr>
              </a:buClr>
              <a:defRPr/>
            </a:lvl2pPr>
            <a:lvl3pPr>
              <a:buClr>
                <a:schemeClr val="accent1">
                  <a:lumMod val="75000"/>
                </a:schemeClr>
              </a:buClr>
              <a:defRPr/>
            </a:lvl3pPr>
            <a:lvl4pPr>
              <a:buClr>
                <a:schemeClr val="accent1">
                  <a:lumMod val="75000"/>
                </a:schemeClr>
              </a:buClr>
              <a:defRPr/>
            </a:lvl4pPr>
            <a:lvl5pPr>
              <a:buClr>
                <a:schemeClr val="accent1">
                  <a:lumMod val="75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64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724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805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buClr>
                <a:schemeClr val="accent1">
                  <a:lumMod val="75000"/>
                </a:schemeClr>
              </a:buClr>
              <a:defRPr sz="1800"/>
            </a:lvl1pPr>
            <a:lvl2pPr>
              <a:buClr>
                <a:schemeClr val="accent1">
                  <a:lumMod val="75000"/>
                </a:schemeClr>
              </a:buClr>
              <a:defRPr sz="1600"/>
            </a:lvl2pPr>
            <a:lvl3pPr>
              <a:buClr>
                <a:schemeClr val="accent1">
                  <a:lumMod val="75000"/>
                </a:schemeClr>
              </a:buClr>
              <a:defRPr sz="1400"/>
            </a:lvl3pPr>
            <a:lvl4pPr>
              <a:buClr>
                <a:schemeClr val="accent1">
                  <a:lumMod val="75000"/>
                </a:schemeClr>
              </a:buClr>
              <a:defRPr sz="1200"/>
            </a:lvl4pPr>
            <a:lvl5pPr>
              <a:buClr>
                <a:schemeClr val="accent1">
                  <a:lumMod val="75000"/>
                </a:schemeClr>
              </a:buCl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7731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633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46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38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703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35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2298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2613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79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944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7786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261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542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0320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233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8394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24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001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849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9209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6308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0904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966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038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010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618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13153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721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8308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54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0250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83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86316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59585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2765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6906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1048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7560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3688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18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28903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13538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163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81169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9986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9328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7339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A9A0-F939-792E-0AA3-CF2009733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73D1D0-1246-5383-984F-2EDD0F2BC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80C4-6761-3304-CC64-FF66B5F2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ACA5F-C6F8-EF39-33EA-016A344F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236E7-5C2C-6909-D9EF-3A352165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7448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BD03B-AA14-E54A-A420-BB6E4C0E1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DF8E8-6D5E-AA34-BB7F-CA6C10FEE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35690-188D-BBF9-5433-3D378EB1B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8F903-76C2-2F9F-9C91-2623B298C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13748-1134-0462-9DDC-AC372BAE5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97278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258FE-B129-746F-ADDA-28D4C2CF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2B7A62-4974-8F58-622A-304EDED5E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0111-2673-F9A2-9756-B4654264E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AA276-9251-7142-2BF5-38D622AF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B6C4E-57BE-81A7-EB5F-23A9FF39A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004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7426-3E05-AD81-09D0-A2F516200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64399-A06F-5782-18FF-E7CD13C7E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E1329D-AB1A-504A-269B-60F8556B2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AED7C-40B6-3977-372E-E31BD96F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8004D-4D2E-0958-B71B-6EFA87CA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E9041-B851-15DF-F704-43D9A0B0F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783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76E2-248A-5CF2-FD46-01D5ED45F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4904A-5B64-FE4C-1534-517D42E60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87C78-ED3C-6CDA-AFCA-BB4C319626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EFE5A-47DE-CE0D-2C24-35B4BCA16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A31BB-AB4F-08FE-6926-8BBD7E4BBC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75215C-972D-31C0-AABC-2F591903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1E2EF7-6C82-5751-B474-9B212512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3118A-04A4-EC8A-64C1-F0050B00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4663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ABDC-C6FD-C973-696F-6FA0DC14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AC46E-C065-CA6A-FC2B-C5457427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E8D83-8D01-D607-09B0-A18CBB1FA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63CF4-BFE2-1079-0F4F-929EDF462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162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51AEE-2FE0-F237-3F72-AD19AB794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9E7B5-1921-D47E-D0DD-239C694F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82081-F9A6-CEEB-FEB1-5EA9D277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08765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81C3-E23D-C67A-4BE3-F75C83CA7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CE407-774A-C979-7B53-762C342BB1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20B59-175B-1CDE-1912-BB010F5DB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586C7-9841-9884-61DC-E0889DC5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634AA-01AB-44A3-F95F-8B61E7A53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9D424-957C-AA1C-C6F9-96688C9A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1914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489E4-40D3-3FA5-DF2E-E33D816D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8B2B3B-0A4C-3C3C-6CA1-50D4DD3FD2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472F4-EC54-3ECC-AD6B-16DEFA2B2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72541-36FC-F993-07A4-2660D016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262AF-47A1-B074-AE6A-791370F7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15E9A-9A63-957E-2D19-6622256AB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0390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91D1D-B324-5B6C-B008-093A5FE8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4967D-12BE-E6EA-C27C-5635EE8F49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62DBC-2919-C1F4-AB26-94D4776C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C5123-2930-CA26-4EAE-D238DC2A7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A6C12-30F2-CDFB-345F-425A7BC3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566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D3379B-7607-5F48-E193-152C47DC9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70817F-EFAC-9E9C-4A68-6B8CE4B78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55972-B67D-C9E2-A7A2-1AFECC180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AC9EE-65D9-0E1F-F6AA-74FC48B2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8DD1E-E865-E1F7-010B-DE484E318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81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564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827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97924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5394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0155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92873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11727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3876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6049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56804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1678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1337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1846136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0517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4342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8208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525098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9935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358825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3383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21220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74803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70179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95485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04249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1502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88910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4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7.xml"/><Relationship Id="rId9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94.xml"/><Relationship Id="rId16" Type="http://schemas.openxmlformats.org/officeDocument/2006/relationships/slideLayout" Target="../slideLayouts/slideLayout95.xml"/><Relationship Id="rId17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3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  <p:sldLayoutId id="2147483900" r:id="rId15"/>
    <p:sldLayoutId id="2147483901" r:id="rId16"/>
    <p:sldLayoutId id="214748390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19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  <p:sldLayoutId id="2147483925" r:id="rId4"/>
    <p:sldLayoutId id="2147483926" r:id="rId5"/>
    <p:sldLayoutId id="2147483927" r:id="rId6"/>
    <p:sldLayoutId id="2147483928" r:id="rId7"/>
    <p:sldLayoutId id="2147483929" r:id="rId8"/>
    <p:sldLayoutId id="2147483930" r:id="rId9"/>
    <p:sldLayoutId id="2147483931" r:id="rId10"/>
    <p:sldLayoutId id="2147483932" r:id="rId11"/>
    <p:sldLayoutId id="2147483933" r:id="rId12"/>
    <p:sldLayoutId id="2147483934" r:id="rId13"/>
    <p:sldLayoutId id="2147483935" r:id="rId14"/>
    <p:sldLayoutId id="2147483936" r:id="rId15"/>
    <p:sldLayoutId id="2147483937" r:id="rId16"/>
    <p:sldLayoutId id="214748393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862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  <p:sldLayoutId id="2147483953" r:id="rId14"/>
    <p:sldLayoutId id="2147483954" r:id="rId15"/>
    <p:sldLayoutId id="2147483955" r:id="rId16"/>
    <p:sldLayoutId id="214748395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51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8" r:id="rId1"/>
    <p:sldLayoutId id="2147483959" r:id="rId2"/>
    <p:sldLayoutId id="2147483960" r:id="rId3"/>
    <p:sldLayoutId id="2147483961" r:id="rId4"/>
    <p:sldLayoutId id="2147483962" r:id="rId5"/>
    <p:sldLayoutId id="2147483963" r:id="rId6"/>
    <p:sldLayoutId id="2147483964" r:id="rId7"/>
    <p:sldLayoutId id="2147483965" r:id="rId8"/>
    <p:sldLayoutId id="2147483966" r:id="rId9"/>
    <p:sldLayoutId id="2147483967" r:id="rId10"/>
    <p:sldLayoutId id="2147483968" r:id="rId11"/>
    <p:sldLayoutId id="2147483969" r:id="rId12"/>
    <p:sldLayoutId id="2147483970" r:id="rId13"/>
    <p:sldLayoutId id="2147483971" r:id="rId14"/>
    <p:sldLayoutId id="2147483972" r:id="rId15"/>
    <p:sldLayoutId id="2147483973" r:id="rId16"/>
    <p:sldLayoutId id="2147483974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5CF253-59F2-EB10-1F36-7E1C6A3E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81B51-2B62-A4DE-6AC1-1CA2F042A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AAC8A-1ECF-9B72-B4B4-A6609B81B3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A4BB0-5B0C-DBC6-4F83-EA07DE43ED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20855-710F-9194-5DC2-144EFC00B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7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783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9" r:id="rId2"/>
    <p:sldLayoutId id="2147483990" r:id="rId3"/>
    <p:sldLayoutId id="2147483991" r:id="rId4"/>
    <p:sldLayoutId id="2147483992" r:id="rId5"/>
    <p:sldLayoutId id="2147483993" r:id="rId6"/>
    <p:sldLayoutId id="2147483994" r:id="rId7"/>
    <p:sldLayoutId id="2147483995" r:id="rId8"/>
    <p:sldLayoutId id="2147483996" r:id="rId9"/>
    <p:sldLayoutId id="2147483997" r:id="rId10"/>
    <p:sldLayoutId id="2147483998" r:id="rId11"/>
    <p:sldLayoutId id="2147483999" r:id="rId12"/>
    <p:sldLayoutId id="2147484000" r:id="rId13"/>
    <p:sldLayoutId id="2147484001" r:id="rId14"/>
    <p:sldLayoutId id="2147484002" r:id="rId15"/>
    <p:sldLayoutId id="214748400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D477973-EE71-4F2D-8823-AB50F72F9251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D277600-97BB-4970-A500-630BB64BE33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785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1" r:id="rId1"/>
    <p:sldLayoutId id="2147484132" r:id="rId2"/>
    <p:sldLayoutId id="2147484133" r:id="rId3"/>
    <p:sldLayoutId id="2147484134" r:id="rId4"/>
    <p:sldLayoutId id="2147484135" r:id="rId5"/>
    <p:sldLayoutId id="2147484136" r:id="rId6"/>
    <p:sldLayoutId id="2147484137" r:id="rId7"/>
    <p:sldLayoutId id="2147484138" r:id="rId8"/>
    <p:sldLayoutId id="2147484139" r:id="rId9"/>
    <p:sldLayoutId id="2147484140" r:id="rId10"/>
    <p:sldLayoutId id="214748414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8.jpeg"/><Relationship Id="rId3" Type="http://schemas.openxmlformats.org/officeDocument/2006/relationships/image" Target="../media/image9.im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image" Target="../media/image10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7.xml"/><Relationship Id="rId2" Type="http://schemas.openxmlformats.org/officeDocument/2006/relationships/image" Target="../media/image1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D104-D900-21A0-36F4-9F3896309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2826" y="284163"/>
            <a:ext cx="9144000" cy="1316037"/>
          </a:xfrm>
        </p:spPr>
        <p:txBody>
          <a:bodyPr>
            <a:normAutofit fontScale="90000"/>
          </a:bodyPr>
          <a:lstStyle/>
          <a:p>
            <a:b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br>
              <a:rPr lang="en-US" sz="36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sz="2200" b="1">
                <a:latin typeface="Times New Roman"/>
              </a:rPr>
              <a:t>The National Degree College Bagepalli-561207</a:t>
            </a:r>
            <a:endParaRPr lang="en-US" sz="3600" b="1" dirty="0"/>
          </a:p>
          <a:p>
            <a:r>
              <a:rPr sz="2200" b="1">
                <a:latin typeface="Times New Roman"/>
              </a:rPr>
              <a:t>Department of Computer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281FAD-D09D-42D0-725D-7DDA6EC9AC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9471" y="1851896"/>
            <a:ext cx="9144000" cy="2769266"/>
          </a:xfrm>
        </p:spPr>
        <p:txBody>
          <a:bodyPr>
            <a:normAutofit fontScale="85000" lnSpcReduction="20000"/>
          </a:bodyPr>
          <a:lstStyle/>
          <a:p>
            <a:r>
              <a:rPr sz="1800">
                <a:latin typeface="Times New Roman"/>
              </a:rPr>
              <a:t>A Technical Project Report</a:t>
            </a:r>
          </a:p>
          <a:p>
            <a:r>
              <a:rPr sz="1800">
                <a:latin typeface="Times New Roman"/>
              </a:rPr>
              <a:t>On</a:t>
            </a:r>
          </a:p>
          <a:p>
            <a:r>
              <a:rPr sz="1800">
                <a:latin typeface="Times New Roman"/>
              </a:rPr>
              <a:t>"An Intelligent Student Performance Prediction Using ML"</a:t>
            </a:r>
          </a:p>
          <a:p>
            <a:r>
              <a:rPr sz="1800">
                <a:latin typeface="Times New Roman"/>
              </a:rPr>
              <a:t>Submitted in partial fulfilment of the requirement for the award of the degree of</a:t>
            </a:r>
          </a:p>
          <a:p>
            <a:r>
              <a:rPr sz="1800">
                <a:latin typeface="Times New Roman"/>
              </a:rPr>
              <a:t>Bachelor Of Computer 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C99AE-39C5-1F26-BA7D-9FEAC733E337}"/>
              </a:ext>
            </a:extLst>
          </p:cNvPr>
          <p:cNvSpPr txBox="1"/>
          <p:nvPr/>
        </p:nvSpPr>
        <p:spPr>
          <a:xfrm>
            <a:off x="84841" y="5191390"/>
            <a:ext cx="5524314" cy="1109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1400">
                <a:latin typeface="Times New Roman"/>
              </a:rPr>
              <a:t>Submitted By</a:t>
            </a:r>
          </a:p>
          <a:p>
            <a:r>
              <a:rPr sz="1400">
                <a:latin typeface="Times New Roman"/>
              </a:rPr>
              <a:t>PRAJWAL              (USN: XXXX001)</a:t>
            </a:r>
          </a:p>
          <a:p>
            <a:r>
              <a:rPr sz="1400">
                <a:latin typeface="Times New Roman"/>
              </a:rPr>
              <a:t>VARADARAJU          (USN: XXXX002)</a:t>
            </a:r>
          </a:p>
          <a:p>
            <a:r>
              <a:rPr sz="1400">
                <a:latin typeface="Times New Roman"/>
              </a:rPr>
              <a:t>GIRISHA A            (USN: XXXX003)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FF9697-110C-188D-18C9-01B34B2F5D2D}"/>
              </a:ext>
            </a:extLst>
          </p:cNvPr>
          <p:cNvSpPr txBox="1"/>
          <p:nvPr/>
        </p:nvSpPr>
        <p:spPr>
          <a:xfrm>
            <a:off x="9001584" y="5191390"/>
            <a:ext cx="3490452" cy="12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400">
                <a:latin typeface="Times New Roman"/>
              </a:rPr>
              <a:t>Under the guidance of</a:t>
            </a:r>
          </a:p>
          <a:p>
            <a:r>
              <a:rPr sz="1400">
                <a:latin typeface="Times New Roman"/>
              </a:rPr>
              <a:t>Mr. [Guide Name]</a:t>
            </a:r>
          </a:p>
          <a:p>
            <a:r>
              <a:rPr sz="1400">
                <a:latin typeface="Times New Roman"/>
              </a:rPr>
              <a:t>Assistant Professor,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5B6F4-CE75-4D6B-A814-3DFFDCE07608}"/>
              </a:ext>
            </a:extLst>
          </p:cNvPr>
          <p:cNvSpPr txBox="1"/>
          <p:nvPr/>
        </p:nvSpPr>
        <p:spPr>
          <a:xfrm>
            <a:off x="4479086" y="5191390"/>
            <a:ext cx="459166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1300">
                <a:latin typeface="Times New Roman"/>
              </a:rPr>
              <a:t>Head of the Department</a:t>
            </a:r>
          </a:p>
          <a:p>
            <a:r>
              <a:rPr sz="1300">
                <a:latin typeface="Times New Roman"/>
              </a:rPr>
              <a:t>Prof. [HOD Name], B.E., M.Tech., (Ph.D)</a:t>
            </a:r>
          </a:p>
          <a:p>
            <a:r>
              <a:rPr sz="1300">
                <a:latin typeface="Times New Roman"/>
              </a:rPr>
              <a:t>Head, Department of Computer Science</a:t>
            </a:r>
          </a:p>
        </p:txBody>
      </p:sp>
      <p:pic>
        <p:nvPicPr>
          <p:cNvPr id="7" name="Picture 2" descr="National College Basavanagudi » Vision &amp; Mission">
            <a:extLst>
              <a:ext uri="{FF2B5EF4-FFF2-40B4-BE49-F238E27FC236}">
                <a16:creationId xmlns:a16="http://schemas.microsoft.com/office/drawing/2014/main" id="{AAE7FCB2-50D3-3D87-9D20-DDC51AE24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54" y="0"/>
            <a:ext cx="1987652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hivaprasad Khened, Advisor, CSMVS, Mumbai. Former Director, Nehru Science  Centre, Mumbai: Centenary Tribute to Padma Bhushan Dr. H. Narasimhaiah (6  June 1920 — 31 January 2005) : An Embodiment of Scientific Temper.">
            <a:extLst>
              <a:ext uri="{FF2B5EF4-FFF2-40B4-BE49-F238E27FC236}">
                <a16:creationId xmlns:a16="http://schemas.microsoft.com/office/drawing/2014/main" id="{CB8C02EE-0BCD-7BB1-8708-74C37261C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2838" y="167148"/>
            <a:ext cx="1645060" cy="2192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109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3831-F1A8-6C29-272D-1384EE93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latin typeface="Times New Roman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82F7C-2E8D-20B9-15DB-BAC38AC41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sz="1800">
                <a:latin typeface="Times New Roman"/>
              </a:rPr>
              <a:t>1. Introduction</a:t>
            </a:r>
          </a:p>
          <a:p>
            <a:r>
              <a:rPr sz="1800">
                <a:latin typeface="Times New Roman"/>
              </a:rPr>
              <a:t>2. Problem Statement</a:t>
            </a:r>
          </a:p>
          <a:p>
            <a:r>
              <a:rPr sz="1800">
                <a:latin typeface="Times New Roman"/>
              </a:rPr>
              <a:t>3. Objectives</a:t>
            </a:r>
          </a:p>
          <a:p>
            <a:r>
              <a:rPr sz="1800">
                <a:latin typeface="Times New Roman"/>
              </a:rPr>
              <a:t>4. Proposed Methodology</a:t>
            </a:r>
          </a:p>
          <a:p>
            <a:r>
              <a:rPr sz="1800">
                <a:latin typeface="Times New Roman"/>
              </a:rPr>
              <a:t>5. Dataset &amp; Features</a:t>
            </a:r>
          </a:p>
          <a:p>
            <a:r>
              <a:rPr sz="1800">
                <a:latin typeface="Times New Roman"/>
              </a:rPr>
              <a:t>6. ML Algorithms &amp; Results</a:t>
            </a:r>
          </a:p>
          <a:p>
            <a:r>
              <a:rPr sz="1800">
                <a:latin typeface="Times New Roman"/>
              </a:rPr>
              <a:t>7. System Architecture</a:t>
            </a:r>
          </a:p>
          <a:p>
            <a:r>
              <a:rPr sz="1800">
                <a:latin typeface="Times New Roman"/>
              </a:rPr>
              <a:t>8. Web Application Features</a:t>
            </a:r>
          </a:p>
          <a:p>
            <a:r>
              <a:rPr sz="1800">
                <a:latin typeface="Times New Roman"/>
              </a:rPr>
              <a:t>9. Visualisations &amp; Charts</a:t>
            </a:r>
          </a:p>
          <a:p>
            <a:r>
              <a:rPr sz="1800">
                <a:latin typeface="Times New Roman"/>
              </a:rPr>
              <a:t>10. Conclusion</a:t>
            </a:r>
          </a:p>
          <a:p>
            <a:r>
              <a:rPr sz="1800">
                <a:latin typeface="Times New Roman"/>
              </a:rPr>
              <a:t>11. Future Enhancement</a:t>
            </a:r>
          </a:p>
          <a:p>
            <a:r>
              <a:rPr sz="1800">
                <a:latin typeface="Times New Roman"/>
              </a:rPr>
              <a:t>12. References</a:t>
            </a:r>
          </a:p>
        </p:txBody>
      </p:sp>
    </p:spTree>
    <p:extLst>
      <p:ext uri="{BB962C8B-B14F-4D97-AF65-F5344CB8AC3E}">
        <p14:creationId xmlns:p14="http://schemas.microsoft.com/office/powerpoint/2010/main" val="328052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C63DA-3A39-C269-5E65-8A60216CE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FF0000"/>
                </a:solidFill>
              </a:rPr>
            </a:br>
            <a:br>
              <a:rPr lang="en-US" b="1" dirty="0"/>
            </a:br>
            <a:r>
              <a:rPr sz="3200" b="1">
                <a:latin typeface="Times New Roman"/>
              </a:rPr>
              <a:t>Introduction</a:t>
            </a:r>
            <a:endParaRPr lang="en-US" b="1" dirty="0"/>
          </a:p>
        </p:txBody>
      </p:sp>
      <p:sp>
        <p:nvSpPr>
          <p:cNvPr id="4" name="Rectangle 3"/>
          <p:cNvSpPr/>
          <p:nvPr/>
        </p:nvSpPr>
        <p:spPr>
          <a:xfrm>
            <a:off x="1363355" y="2183423"/>
            <a:ext cx="103837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latin typeface="Times New Roman"/>
              </a:rPr>
              <a:t>An Intelligent Student Performance Prediction System offers a data-driven digital solution to identify at-risk students early. Using Machine Learning algorithms such as Logistic Regression, SVM, Random Forest, and XGBoost, the system predicts whether a student will PASS or FAIL based on academic, social, and personal attributes. It empowers educators with actionable insights and personalised feedback for every student.</a:t>
            </a:r>
          </a:p>
        </p:txBody>
      </p:sp>
    </p:spTree>
    <p:extLst>
      <p:ext uri="{BB962C8B-B14F-4D97-AF65-F5344CB8AC3E}">
        <p14:creationId xmlns:p14="http://schemas.microsoft.com/office/powerpoint/2010/main" val="1604196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FBF10-BF42-CE9D-2EA3-C2F6785D5CD9}"/>
              </a:ext>
            </a:extLst>
          </p:cNvPr>
          <p:cNvSpPr txBox="1"/>
          <p:nvPr/>
        </p:nvSpPr>
        <p:spPr>
          <a:xfrm>
            <a:off x="1459522" y="1325880"/>
            <a:ext cx="84540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>
                <a:latin typeface="Times New Roman"/>
              </a:rPr>
              <a:t>The importance of an intelligent prediction system has increased in the era of data-driven education, where student outcomes can be analysed using ML models trained on real-world lifestyle and academic datasets to support timely interventions.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59523" y="2604591"/>
            <a:ext cx="921434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Educational institutions today handle vast amounts of data related to students — including attendance, study habits, family background, and academic performance. Traditionally, identifying at-risk students has been a manual and subjective process, leading to delayed interventions. Our ML-powered Flask web application addresses this gap by providing instant, automated, and explainable predictions for each student.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327" y="4074094"/>
            <a:ext cx="3925126" cy="25871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522" y="4074094"/>
            <a:ext cx="4224759" cy="258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45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942EC-9B26-C35C-917F-AC75671A7C4B}"/>
              </a:ext>
            </a:extLst>
          </p:cNvPr>
          <p:cNvSpPr txBox="1"/>
          <p:nvPr/>
        </p:nvSpPr>
        <p:spPr>
          <a:xfrm>
            <a:off x="296308" y="776698"/>
            <a:ext cx="1132159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942EC-9B26-C35C-917F-AC75671A7C4B}"/>
              </a:ext>
            </a:extLst>
          </p:cNvPr>
          <p:cNvSpPr txBox="1"/>
          <p:nvPr/>
        </p:nvSpPr>
        <p:spPr>
          <a:xfrm>
            <a:off x="578734" y="1129152"/>
            <a:ext cx="113439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500">
                <a:latin typeface="Times New Roman"/>
              </a:rPr>
              <a:t>To predict student academic outcomes: The primary goal is to accurately predict whether a student will PASS or FAIL using ML models trained on real student data.</a:t>
            </a:r>
            <a:endParaRPr lang="en-IN" b="1" dirty="0"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78734" y="2047631"/>
            <a:ext cx="109688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To ensure efficient ML model selection: The system automatically selects the best performing algorithm using StratifiedKFold cross-validation for robust and fair evaluation.</a:t>
            </a:r>
            <a:endParaRPr lang="en-IN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6492" y="2945034"/>
            <a:ext cx="108910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To support decision-making: The system provides teachers and administrators with comprehensive ML-generated insights, feature importance charts, and SHAP explanations to support informed, data-driven decisions about at-risk students.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6492" y="4119436"/>
            <a:ext cx="106427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To increase transparency with SHAP: By providing SHAP (SHapley Additive exPlanations) values, the system explains each prediction so stakeholders understand the key factors influencing every student's result.</a:t>
            </a:r>
          </a:p>
        </p:txBody>
      </p:sp>
      <p:sp>
        <p:nvSpPr>
          <p:cNvPr id="10" name="Rectangle 9"/>
          <p:cNvSpPr/>
          <p:nvPr/>
        </p:nvSpPr>
        <p:spPr>
          <a:xfrm rot="10800000" flipV="1">
            <a:off x="578733" y="5067710"/>
            <a:ext cx="1056600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To save time and automate reporting: The system automates prediction, chart generation, and report creation — producing downloadable CSV reports, 10+ visualisation charts, and personalised improvement tips for each student.</a:t>
            </a:r>
          </a:p>
        </p:txBody>
      </p:sp>
    </p:spTree>
    <p:extLst>
      <p:ext uri="{BB962C8B-B14F-4D97-AF65-F5344CB8AC3E}">
        <p14:creationId xmlns:p14="http://schemas.microsoft.com/office/powerpoint/2010/main" val="2666926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87A18-DF48-77AF-CF53-E2B2738A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92" y="-169924"/>
            <a:ext cx="10515600" cy="1325563"/>
          </a:xfrm>
        </p:spPr>
        <p:txBody>
          <a:bodyPr>
            <a:normAutofit/>
          </a:bodyPr>
          <a:lstStyle/>
          <a:p>
            <a:r>
              <a:rPr sz="3200" b="1">
                <a:latin typeface="Times New Roman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2592" y="1272870"/>
            <a:ext cx="1146516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Educational institutions face significant challenges in identifying students at risk of failure.</a:t>
            </a: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Manual Assessment: Identifying struggling students is subjective and time-consuming for teachers.</a:t>
            </a: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Delayed Intervention: Without early warning systems, teachers only notice failure after it occurs.</a:t>
            </a: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Data Disorganization: Student records — grades, attendance, social factors — are stored in separate systems, making holistic analysis difficult.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8247" y="4806421"/>
            <a:ext cx="1140951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500">
                <a:latin typeface="Times New Roman"/>
              </a:rPr>
              <a:t>Limited Insights: Without ML-driven analytics, schools cannot identify patterns across multiple student features like study time, family support, and past failures.</a:t>
            </a:r>
            <a:endParaRPr lang="en-US" b="1" dirty="0">
              <a:latin typeface="Bodoni MT" panose="02070603080606020203" pitchFamily="18" charset="0"/>
            </a:endParaRP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Lack of Personalised Feedback: Each student has unique risk factors, but current systems cannot generate personalised, actionable improvement tips at scale.</a:t>
            </a:r>
          </a:p>
        </p:txBody>
      </p:sp>
    </p:spTree>
    <p:extLst>
      <p:ext uri="{BB962C8B-B14F-4D97-AF65-F5344CB8AC3E}">
        <p14:creationId xmlns:p14="http://schemas.microsoft.com/office/powerpoint/2010/main" val="173667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73152" cy="678484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8368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9728"/>
            <a:ext cx="11795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Times New Roman"/>
              </a:rPr>
              <a:t>System Architecture &amp;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5836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D6E8"/>
                </a:solidFill>
                <a:latin typeface="Times New Roman"/>
              </a:rPr>
              <a:t>End-to-end pipeline: from raw student data to intelligent predictions and reports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" y="1078992"/>
            <a:ext cx="1755648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72768" y="1133856"/>
            <a:ext cx="329184" cy="32918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72768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Times New Roman"/>
              </a:rPr>
              <a:t>Dataset</a:t>
            </a:r>
          </a:p>
          <a:p>
            <a:pPr algn="ctr"/>
            <a:r>
              <a:rPr sz="1300" b="1" i="0">
                <a:solidFill>
                  <a:srgbClr val="00D4FF"/>
                </a:solidFill>
                <a:latin typeface="Times New Roman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CSV / Excel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upload or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default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66544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66544" y="1078992"/>
            <a:ext cx="1755648" cy="640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38144" y="1133856"/>
            <a:ext cx="329184" cy="3291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38144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7C3AED"/>
                </a:solidFill>
                <a:latin typeface="Times New Roman"/>
              </a:rPr>
              <a:t>Pre-</a:t>
            </a:r>
          </a:p>
          <a:p>
            <a:pPr algn="ctr"/>
            <a:r>
              <a:rPr sz="1300" b="1" i="0">
                <a:solidFill>
                  <a:srgbClr val="7C3AED"/>
                </a:solidFill>
                <a:latin typeface="Times New Roman"/>
              </a:rPr>
              <a:t>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OneHotEncode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+ numeric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passthrough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1336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31920" y="1078992"/>
            <a:ext cx="1755648" cy="64008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0" y="1133856"/>
            <a:ext cx="329184" cy="329184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6784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E676"/>
                </a:solidFill>
                <a:latin typeface="Times New Roman"/>
              </a:rPr>
              <a:t>ML Model</a:t>
            </a:r>
          </a:p>
          <a:p>
            <a:pPr algn="ctr"/>
            <a:r>
              <a:rPr sz="1300" b="1" i="0">
                <a:solidFill>
                  <a:srgbClr val="00E676"/>
                </a:solidFill>
                <a:latin typeface="Times New Roman"/>
              </a:rPr>
              <a:t>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86784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5 algorithms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trained — best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chosen by CV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97296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97296" y="1078992"/>
            <a:ext cx="1755648" cy="64008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68896" y="1133856"/>
            <a:ext cx="329184" cy="329184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6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  <a:latin typeface="Times New Roman"/>
              </a:rPr>
              <a:t>Prediction</a:t>
            </a:r>
          </a:p>
          <a:p>
            <a:pPr algn="ctr"/>
            <a:r>
              <a:rPr sz="1300" b="1" i="0">
                <a:solidFill>
                  <a:srgbClr val="FF6B6B"/>
                </a:solidFill>
                <a:latin typeface="Times New Roman"/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Pass / Fail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+ Probability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per student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088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62672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1078992"/>
            <a:ext cx="1755648" cy="64008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34272" y="1133856"/>
            <a:ext cx="329184" cy="329184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34272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7536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  <a:latin typeface="Times New Roman"/>
              </a:rPr>
              <a:t>Visuals &amp;</a:t>
            </a:r>
          </a:p>
          <a:p>
            <a:pPr algn="ctr"/>
            <a:r>
              <a:rPr sz="1300" b="1" i="0">
                <a:solidFill>
                  <a:srgbClr val="FFD700"/>
                </a:solidFill>
                <a:latin typeface="Times New Roman"/>
              </a:rPr>
              <a:t>Charts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7536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10 auto charts: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SHAP, heatmap,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confusion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4" y="2542032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D4FF"/>
                </a:solidFill>
                <a:latin typeface="Times New Roman"/>
              </a:rPr>
              <a:t>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28048" y="1078992"/>
            <a:ext cx="1755648" cy="3383280"/>
          </a:xfrm>
          <a:prstGeom prst="rect">
            <a:avLst/>
          </a:prstGeom>
          <a:solidFill>
            <a:srgbClr val="1A3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528048" y="1078992"/>
            <a:ext cx="1755648" cy="64008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899648" y="1133856"/>
            <a:ext cx="329184" cy="329184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899648" y="113385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2A"/>
                </a:solidFill>
                <a:latin typeface="Times New Roman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82912" y="155448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Times New Roman"/>
              </a:rPr>
              <a:t>Report &amp;</a:t>
            </a:r>
          </a:p>
          <a:p>
            <a:pPr algn="ctr"/>
            <a:r>
              <a:rPr sz="1300" b="1" i="0">
                <a:solidFill>
                  <a:srgbClr val="00D4FF"/>
                </a:solidFill>
                <a:latin typeface="Times New Roman"/>
              </a:rPr>
              <a:t>Export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82912" y="2450592"/>
            <a:ext cx="1645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Personalised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tips + CSV</a:t>
            </a:r>
          </a:p>
          <a:p>
            <a:pPr algn="ctr"/>
            <a:r>
              <a:rPr sz="1100" b="0" i="0">
                <a:solidFill>
                  <a:srgbClr val="CCD6E8"/>
                </a:solidFill>
                <a:latin typeface="Times New Roman"/>
              </a:rPr>
              <a:t>download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1168" y="4617720"/>
            <a:ext cx="11786616" cy="1078992"/>
          </a:xfrm>
          <a:prstGeom prst="rect">
            <a:avLst/>
          </a:prstGeom>
          <a:solidFill>
            <a:srgbClr val="152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1168" y="4617720"/>
            <a:ext cx="11786616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6908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Times New Roman"/>
              </a:rPr>
              <a:t>Technologies Used: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46888" y="5038344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61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Times New Roman"/>
              </a:rPr>
              <a:t>Python 3.x + Flask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6712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167128" y="5038344"/>
            <a:ext cx="54864" cy="548640"/>
          </a:xfrm>
          <a:prstGeom prst="rect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7685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676"/>
                </a:solidFill>
                <a:latin typeface="Times New Roman"/>
              </a:rPr>
              <a:t>scikit-learn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8736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087368" y="5038344"/>
            <a:ext cx="54864" cy="548640"/>
          </a:xfrm>
          <a:prstGeom prst="rect">
            <a:avLst/>
          </a:prstGeom>
          <a:solidFill>
            <a:srgbClr val="FFD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9709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Times New Roman"/>
              </a:rPr>
              <a:t>XGBoost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0760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07608" y="5038344"/>
            <a:ext cx="54864" cy="54864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1733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Times New Roman"/>
              </a:rPr>
              <a:t>SHAP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2784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27848" y="5038344"/>
            <a:ext cx="54864" cy="5486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3757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Times New Roman"/>
              </a:rPr>
              <a:t>Pandas / NumPy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48088" y="5038344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848088" y="5038344"/>
            <a:ext cx="54864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57816" y="50749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  <a:latin typeface="Times New Roman"/>
              </a:rPr>
              <a:t>Bootstrap 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8600" y="5779008"/>
            <a:ext cx="11731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  <a:latin typeface="Times New Roman"/>
              </a:rPr>
              <a:t>★  The Flask app auto-selects the best ML model via StratifiedKFold CV, generates 10 visualisation charts, provides SHAP explanations, and exports timestamped CSV reports.</a:t>
            </a:r>
          </a:p>
        </p:txBody>
      </p:sp>
    </p:spTree>
    <p:extLst>
      <p:ext uri="{BB962C8B-B14F-4D97-AF65-F5344CB8AC3E}">
        <p14:creationId xmlns:p14="http://schemas.microsoft.com/office/powerpoint/2010/main" val="3752480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E13E8-8AF2-19B2-AB04-8FB5E3261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0BD67-53EC-949F-BD3F-FD7BBAED0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C42A6-F5EF-3022-A9FA-8431BB8C8B4F}"/>
              </a:ext>
            </a:extLst>
          </p:cNvPr>
          <p:cNvSpPr txBox="1"/>
          <p:nvPr/>
        </p:nvSpPr>
        <p:spPr>
          <a:xfrm>
            <a:off x="325862" y="1495417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5301" y="1930400"/>
            <a:ext cx="942535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sz="1500">
                <a:latin typeface="Times New Roman"/>
              </a:rPr>
              <a:t>1. Efficiently predict whether each student will Pass or Fail</a:t>
            </a: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2. Maintain automated ML model training and selection pipeline</a:t>
            </a: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3. Automate chart and report generation for every prediction run</a:t>
            </a: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4. Provide quick access to individual student performance predictions</a:t>
            </a:r>
          </a:p>
          <a:p>
            <a:r>
              <a:rPr sz="1500">
                <a:latin typeface="Times New Roman"/>
              </a:rPr>
              <a:t/>
            </a:r>
          </a:p>
          <a:p>
            <a:r>
              <a:rPr sz="1500">
                <a:latin typeface="Times New Roman"/>
              </a:rPr>
              <a:t>5. Enhance transparency between teachers, students, and parents</a:t>
            </a:r>
          </a:p>
          <a:p>
            <a:r>
              <a:rPr sz="1500">
                <a:latin typeface="Times New Roman"/>
              </a:rPr>
              <a:t>   through SHAP-based explainable AI</a:t>
            </a:r>
          </a:p>
        </p:txBody>
      </p:sp>
    </p:spTree>
    <p:extLst>
      <p:ext uri="{BB962C8B-B14F-4D97-AF65-F5344CB8AC3E}">
        <p14:creationId xmlns:p14="http://schemas.microsoft.com/office/powerpoint/2010/main" val="532834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8EA82-77E0-657D-34E5-EFCD205C7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8" y="83581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600">
                <a:latin typeface="Times New Roman"/>
              </a:rPr>
              <a:t>6. Reduce manual assessment errors using data-driven ML predictions</a:t>
            </a:r>
          </a:p>
          <a:p>
            <a:r>
              <a:rPr sz="1600">
                <a:latin typeface="Times New Roman"/>
              </a:rPr>
              <a:t/>
            </a:r>
          </a:p>
          <a:p>
            <a:r>
              <a:rPr sz="1600">
                <a:latin typeface="Times New Roman"/>
              </a:rPr>
              <a:t>7. Save time and resources by automating the full prediction pipeline</a:t>
            </a:r>
          </a:p>
          <a:p>
            <a:r>
              <a:rPr sz="1600">
                <a:latin typeface="Times New Roman"/>
              </a:rPr>
              <a:t/>
            </a:r>
          </a:p>
          <a:p>
            <a:r>
              <a:rPr sz="1600">
                <a:latin typeface="Times New Roman"/>
              </a:rPr>
              <a:t>8. Generate 10+ visualisation charts for analysis and decision-making</a:t>
            </a:r>
          </a:p>
          <a:p>
            <a:r>
              <a:rPr sz="1600">
                <a:latin typeface="Times New Roman"/>
              </a:rPr>
              <a:t/>
            </a:r>
          </a:p>
          <a:p>
            <a:r>
              <a:rPr sz="1600">
                <a:latin typeface="Times New Roman"/>
              </a:rPr>
              <a:t>9. Secure model storage using model.pkl serialisation (Joblib)</a:t>
            </a:r>
          </a:p>
        </p:txBody>
      </p:sp>
    </p:spTree>
    <p:extLst>
      <p:ext uri="{BB962C8B-B14F-4D97-AF65-F5344CB8AC3E}">
        <p14:creationId xmlns:p14="http://schemas.microsoft.com/office/powerpoint/2010/main" val="4055320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851B7-5C49-D443-AAA5-922ACA0A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20"/>
            <a:ext cx="10515600" cy="1325563"/>
          </a:xfrm>
        </p:spPr>
        <p:txBody>
          <a:bodyPr/>
          <a:lstStyle/>
          <a:p>
            <a:r>
              <a:rPr sz="3200" b="1">
                <a:latin typeface="Times New Roman"/>
              </a:rPr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C58C1-D535-69D4-FF01-98119A01E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974083" y="2647918"/>
            <a:ext cx="17930640" cy="30909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988" y="1077722"/>
            <a:ext cx="9191708" cy="536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574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D208F-465E-0AF0-F979-D8258422C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923" y="447008"/>
            <a:ext cx="10515600" cy="557364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sz="1400">
                <a:latin typeface="Times New Roman"/>
              </a:rPr>
              <a:t>1. Dataset Design and Pre-processing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Student Dataset:</a:t>
            </a:r>
          </a:p>
          <a:p>
            <a:r>
              <a:rPr sz="1400">
                <a:latin typeface="Times New Roman"/>
              </a:rPr>
              <a:t>* Student ID, School, Sex, Age, Study Time, Failures, Absences, etc.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Data Preprocessing:</a:t>
            </a:r>
          </a:p>
          <a:p>
            <a:r>
              <a:rPr sz="1400">
                <a:latin typeface="Times New Roman"/>
              </a:rPr>
              <a:t>* OneHotEncoding for categorical features (school, sex, address, etc.)</a:t>
            </a:r>
          </a:p>
          <a:p>
            <a:r>
              <a:rPr sz="1400">
                <a:latin typeface="Times New Roman"/>
              </a:rPr>
              <a:t>* Passthrough for numeric features (age, absences, study time, etc.)</a:t>
            </a:r>
          </a:p>
          <a:p>
            <a:r>
              <a:rPr sz="1400">
                <a:latin typeface="Times New Roman"/>
              </a:rPr>
              <a:t>* Handling class imbalance using balanced class weights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2. Feature Implementation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ML Model Training:</a:t>
            </a:r>
          </a:p>
          <a:p>
            <a:r>
              <a:rPr sz="1400">
                <a:latin typeface="Times New Roman"/>
              </a:rPr>
              <a:t>* 5 algorithms: Logistic Regression, SVM (linear &amp; RBF), Random Forest, XGBoost</a:t>
            </a:r>
          </a:p>
          <a:p>
            <a:r>
              <a:rPr sz="1400">
                <a:latin typeface="Times New Roman"/>
              </a:rPr>
              <a:t>* Best model selected via StratifiedKFold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392062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DBC8B-53FB-9ABF-023B-65CEB598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1691640"/>
            <a:ext cx="10515600" cy="47472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400">
                <a:latin typeface="Times New Roman"/>
              </a:rPr>
              <a:t>* Prediction Pipeline:</a:t>
            </a: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sz="1400">
                <a:latin typeface="Times New Roman"/>
              </a:rPr>
              <a:t>  CSV/Excel upload → Preprocessing → Prediction → Pass/Fail + Probability %</a:t>
            </a:r>
          </a:p>
          <a:p>
            <a:r>
              <a:rPr sz="1400">
                <a:latin typeface="Times New Roman"/>
              </a:rPr>
              <a:t>  Single student manual entry → Instant prediction with risk factor analysis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3. System Integration and Interface</a:t>
            </a:r>
          </a:p>
          <a:p>
            <a:r>
              <a:rPr sz="1400">
                <a:latin typeface="Times New Roman"/>
              </a:rPr>
              <a:t>* Frontend:</a:t>
            </a:r>
          </a:p>
          <a:p>
            <a:r>
              <a:rPr sz="1400">
                <a:latin typeface="Times New Roman"/>
              </a:rPr>
              <a:t>  Bootstrap 5 responsive web interface</a:t>
            </a:r>
          </a:p>
          <a:p>
            <a:r>
              <a:rPr sz="1400">
                <a:latin typeface="Times New Roman"/>
              </a:rPr>
              <a:t>  3 tabs: Upload Dataset / Manual Entry / Default Dataset</a:t>
            </a:r>
          </a:p>
          <a:p>
            <a:r>
              <a:rPr sz="1400">
                <a:latin typeface="Times New Roman"/>
              </a:rPr>
              <a:t>* Backend:</a:t>
            </a:r>
          </a:p>
          <a:p>
            <a:r>
              <a:rPr sz="1400">
                <a:latin typeface="Times New Roman"/>
              </a:rPr>
              <a:t>  Flask web framework with Jinja2 template rendering</a:t>
            </a:r>
          </a:p>
          <a:p>
            <a:r>
              <a:rPr sz="1400">
                <a:latin typeface="Times New Roman"/>
              </a:rPr>
              <a:t>  Automated chart generation (10+ PNG visualisations)</a:t>
            </a:r>
          </a:p>
          <a:p>
            <a:r>
              <a:rPr sz="1400">
                <a:latin typeface="Times New Roman"/>
              </a:rPr>
              <a:t>  SHAP explainability, feature importance, confusion matrices</a:t>
            </a:r>
          </a:p>
          <a:p>
            <a:r>
              <a:rPr sz="1400">
                <a:latin typeface="Times New Roman"/>
              </a:rPr>
              <a:t>  Downloadable timestamped CSV prediction reports</a:t>
            </a:r>
          </a:p>
        </p:txBody>
      </p:sp>
    </p:spTree>
    <p:extLst>
      <p:ext uri="{BB962C8B-B14F-4D97-AF65-F5344CB8AC3E}">
        <p14:creationId xmlns:p14="http://schemas.microsoft.com/office/powerpoint/2010/main" val="1625321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5A289-7EB6-E4C2-90DA-63DF44F4C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>
                <a:latin typeface="Times New Roman"/>
              </a:rPr>
              <a:t>Results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0E5055-F9A5-3839-A819-955D5D0B37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730687"/>
            <a:ext cx="18473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7661" y="2413338"/>
            <a:ext cx="1011310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400">
                <a:latin typeface="Times New Roman"/>
              </a:rPr>
              <a:t>The system produces accurate and timely student performance predictions.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Best Model: SVM (RBF kernel) — CV Accuracy: 70.1%  |  F1-Score: 0.765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All 5 ML models evaluated: Logistic Regression, SVM (linear), SVM (RBF), Random Forest, and XGBoost — best selected automatically by cross-validation.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10 automated visualisation charts generated per prediction run, including SHAP summary plots, confusion matrices, feature importance, and heatmaps.</a:t>
            </a: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Personalised, AI-generated improvement tips provided for each student prediction.</a:t>
            </a:r>
          </a:p>
        </p:txBody>
      </p:sp>
    </p:spTree>
    <p:extLst>
      <p:ext uri="{BB962C8B-B14F-4D97-AF65-F5344CB8AC3E}">
        <p14:creationId xmlns:p14="http://schemas.microsoft.com/office/powerpoint/2010/main" val="2773996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B7A17-1BA0-E71F-BA7D-BFFEFB4FE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latin typeface="Times New Roman"/>
              </a:rPr>
              <a:t>Conclusion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240A7A-BAAE-F9FC-6970-30C8CC78FE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2440" y="2063680"/>
            <a:ext cx="111023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400">
                <a:latin typeface="Times New Roman"/>
              </a:rPr>
              <a:t>The Intelligent Student Performance Prediction System modernises the way educational institutions identify and support at-risk students. By replacing manual assessment with an automated, ML-powered web platform, the system:</a:t>
            </a:r>
            <a:endParaRPr lang="en-US" altLang="en-US" sz="3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1400">
                <a:latin typeface="Times New Roman"/>
              </a:rPr>
              <a:t/>
            </a:r>
          </a:p>
          <a:p>
            <a:r>
              <a:rPr sz="1400">
                <a:latin typeface="Times New Roman"/>
              </a:rPr>
              <a:t>* Reduces subjectivity and administrative overhead in student evaluation.</a:t>
            </a:r>
          </a:p>
          <a:p>
            <a:r>
              <a:rPr sz="1400">
                <a:latin typeface="Times New Roman"/>
              </a:rPr>
              <a:t>* Improves transparency through SHAP-based explainable AI predictions.</a:t>
            </a:r>
          </a:p>
          <a:p>
            <a:r>
              <a:rPr sz="1400">
                <a:latin typeface="Times New Roman"/>
              </a:rPr>
              <a:t>* Enables proactive intervention with early, personalised risk identification.</a:t>
            </a:r>
          </a:p>
          <a:p>
            <a:r>
              <a:rPr sz="1400">
                <a:latin typeface="Times New Roman"/>
              </a:rPr>
              <a:t>* Empowers educators with data-driven decision-making tools and visual analytics.</a:t>
            </a:r>
          </a:p>
          <a:p>
            <a:r>
              <a:rPr sz="1400">
                <a:latin typeface="Times New Roman"/>
              </a:rPr>
              <a:t>* Delivers a complete end-to-end solution from data upload to downloadable reports.</a:t>
            </a:r>
          </a:p>
        </p:txBody>
      </p:sp>
    </p:spTree>
    <p:extLst>
      <p:ext uri="{BB962C8B-B14F-4D97-AF65-F5344CB8AC3E}">
        <p14:creationId xmlns:p14="http://schemas.microsoft.com/office/powerpoint/2010/main" val="2796826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D2605-4A08-EC17-CDE2-0E14BFF36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87" y="129450"/>
            <a:ext cx="10515600" cy="1325563"/>
          </a:xfrm>
        </p:spPr>
        <p:txBody>
          <a:bodyPr/>
          <a:lstStyle/>
          <a:p>
            <a:r>
              <a:rPr sz="3200" b="1">
                <a:latin typeface="Times New Roman"/>
              </a:rPr>
              <a:t>Future Enhancement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5EA1-25A6-AD02-50D7-A31350EA3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861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15000"/>
              </a:lnSpc>
              <a:buNone/>
              <a:tabLst>
                <a:tab pos="457200" algn="l"/>
              </a:tabLst>
            </a:pPr>
            <a:r>
              <a:rPr sz="1600">
                <a:latin typeface="Times New Roman"/>
              </a:rPr>
              <a:t>* Integration with Deep Learning (LSTM / Neural Networks) for richer pattern detection</a:t>
            </a:r>
          </a:p>
          <a:p>
            <a:r>
              <a:rPr sz="1600">
                <a:latin typeface="Times New Roman"/>
              </a:rPr>
              <a:t>* Automated Real-Time Predictions for live student data streams</a:t>
            </a:r>
          </a:p>
          <a:p>
            <a:r>
              <a:rPr sz="1600">
                <a:latin typeface="Times New Roman"/>
              </a:rPr>
              <a:t>* Mobile Application for Students, Teachers, and Parents (React Native / Flutter)</a:t>
            </a:r>
          </a:p>
          <a:p>
            <a:r>
              <a:rPr sz="1600">
                <a:latin typeface="Times New Roman"/>
              </a:rPr>
              <a:t>* Cloud-Based Deployment on AWS / Heroku with CI/CD pipeline</a:t>
            </a:r>
          </a:p>
          <a:p>
            <a:r>
              <a:rPr sz="1600">
                <a:latin typeface="Times New Roman"/>
              </a:rPr>
              <a:t>* Email &amp; SMS Alerts for at-risk student early warning notifications</a:t>
            </a:r>
          </a:p>
          <a:p>
            <a:r>
              <a:rPr sz="1600">
                <a:latin typeface="Times New Roman"/>
              </a:rPr>
              <a:t>* Role-Based Access Control for Admins, Teachers, and Students</a:t>
            </a:r>
          </a:p>
          <a:p>
            <a:r>
              <a:rPr sz="1600">
                <a:latin typeface="Times New Roman"/>
              </a:rPr>
              <a:t>* Multi-Subject &amp; Multi-Grade Extension to cover all academic subjects</a:t>
            </a:r>
          </a:p>
          <a:p>
            <a:r>
              <a:rPr sz="1600">
                <a:latin typeface="Times New Roman"/>
              </a:rPr>
              <a:t>* REST API Integration with LMS platforms like Moodle and Canvas</a:t>
            </a:r>
          </a:p>
        </p:txBody>
      </p:sp>
    </p:spTree>
    <p:extLst>
      <p:ext uri="{BB962C8B-B14F-4D97-AF65-F5344CB8AC3E}">
        <p14:creationId xmlns:p14="http://schemas.microsoft.com/office/powerpoint/2010/main" val="3153580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1479A-3BA0-E0F0-4E1C-AAAA2641F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58" y="374552"/>
            <a:ext cx="10515600" cy="1325563"/>
          </a:xfrm>
        </p:spPr>
        <p:txBody>
          <a:bodyPr/>
          <a:lstStyle/>
          <a:p>
            <a:r>
              <a:rPr sz="3200" b="1">
                <a:latin typeface="Times New Roman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D83C2-4554-08B6-F75A-235951838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21" y="1892003"/>
            <a:ext cx="10854179" cy="4725235"/>
          </a:xfrm>
        </p:spPr>
        <p:txBody>
          <a:bodyPr>
            <a:normAutofit fontScale="70000" lnSpcReduction="20000"/>
          </a:bodyPr>
          <a:lstStyle/>
          <a:p>
            <a:pPr marL="0" marR="0" algn="just">
              <a:lnSpc>
                <a:spcPct val="150000"/>
              </a:lnSpc>
              <a:buNone/>
            </a:pPr>
            <a:r>
              <a:rPr sz="1300">
                <a:latin typeface="Times New Roman"/>
              </a:rPr>
              <a:t>WEBSITES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sz="1300">
                <a:latin typeface="Times New Roman"/>
              </a:rPr>
              <a:t> 1. scikit-learn.org — Machine Learning library documentation</a:t>
            </a:r>
          </a:p>
          <a:p>
            <a:r>
              <a:rPr sz="1300">
                <a:latin typeface="Times New Roman"/>
              </a:rPr>
              <a:t> 2. xgboost.readthedocs.io — XGBoost documentation</a:t>
            </a:r>
          </a:p>
          <a:p>
            <a:r>
              <a:rPr sz="1300">
                <a:latin typeface="Times New Roman"/>
              </a:rPr>
              <a:t> 3. shap.readthedocs.io — SHAP explainability library</a:t>
            </a:r>
          </a:p>
          <a:p>
            <a:r>
              <a:rPr sz="1300">
                <a:latin typeface="Times New Roman"/>
              </a:rPr>
              <a:t> 4. flask.palletsprojects.com — Flask web framework</a:t>
            </a:r>
          </a:p>
          <a:p>
            <a:r>
              <a:rPr sz="1300">
                <a:latin typeface="Times New Roman"/>
              </a:rPr>
              <a:t> 5. pandas.pydata.org — Data manipulation library</a:t>
            </a:r>
          </a:p>
          <a:p>
            <a:r>
              <a:rPr sz="1300">
                <a:latin typeface="Times New Roman"/>
              </a:rPr>
              <a:t> 6. python.org — Core language reference</a:t>
            </a:r>
          </a:p>
          <a:p>
            <a:r>
              <a:rPr sz="1300">
                <a:latin typeface="Times New Roman"/>
              </a:rPr>
              <a:t/>
            </a:r>
          </a:p>
          <a:p>
            <a:r>
              <a:rPr sz="1300">
                <a:latin typeface="Times New Roman"/>
              </a:rPr>
              <a:t>RESEARCH PAPERS</a:t>
            </a:r>
          </a:p>
          <a:p>
            <a:r>
              <a:rPr sz="1300">
                <a:latin typeface="Times New Roman"/>
              </a:rPr>
              <a:t> * Cortez, P. &amp; Silva, A.M.G. (2008). Using Data Mining to Predict Secondary School Student Performance. EUROSIS.</a:t>
            </a:r>
          </a:p>
          <a:p>
            <a:r>
              <a:rPr sz="1300">
                <a:latin typeface="Times New Roman"/>
              </a:rPr>
              <a:t/>
            </a:r>
          </a:p>
          <a:p>
            <a:r>
              <a:rPr sz="1300">
                <a:latin typeface="Times New Roman"/>
              </a:rPr>
              <a:t>This project demonstrates how open-source ML tools can be effectively used for intelligent student performance prediction. Libraries and frameworks such as Python, Flask, scikit-learn, XGBoost, SHAP, Pandas, Matplotlib, and Bootstrap 5 were used.</a:t>
            </a:r>
          </a:p>
        </p:txBody>
      </p:sp>
    </p:spTree>
    <p:extLst>
      <p:ext uri="{BB962C8B-B14F-4D97-AF65-F5344CB8AC3E}">
        <p14:creationId xmlns:p14="http://schemas.microsoft.com/office/powerpoint/2010/main" val="3760870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7F36-1CC7-548F-7A3A-095189F8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9600" y="1300480"/>
            <a:ext cx="9360851" cy="2148840"/>
          </a:xfrm>
        </p:spPr>
        <p:txBody>
          <a:bodyPr>
            <a:noAutofit/>
          </a:bodyPr>
          <a:lstStyle/>
          <a:p>
            <a:br>
              <a:rPr lang="en-US" sz="5400" b="1" dirty="0" smtClean="0"/>
            </a:br>
            <a:br>
              <a:rPr lang="en-US" sz="3200" b="1" dirty="0" smtClean="0"/>
            </a:br>
            <a:br>
              <a:rPr lang="en-US" sz="3200" b="1" dirty="0" smtClean="0"/>
            </a:br>
            <a:br>
              <a:rPr lang="en-US" sz="3200" b="1" dirty="0" smtClean="0"/>
            </a:br>
            <a:br>
              <a:rPr lang="en-US" sz="3200" b="1" dirty="0" smtClean="0"/>
            </a:br>
            <a:r>
              <a:rPr sz="2800" b="0">
                <a:latin typeface="Times New Roman"/>
              </a:rPr>
              <a:t>Thank You!</a:t>
            </a:r>
            <a:endParaRPr lang="en-IN" sz="3200" b="1" dirty="0"/>
          </a:p>
          <a:p>
            <a:r>
              <a:rPr sz="2800" b="0">
                <a:latin typeface="Times New Roman"/>
              </a:rPr>
              <a:t/>
            </a:r>
          </a:p>
          <a:p>
            <a:r>
              <a:rPr sz="2800" b="0">
                <a:latin typeface="Times New Roman"/>
              </a:rPr>
              <a:t>We are grateful for your time and attention.</a:t>
            </a:r>
          </a:p>
          <a:p>
            <a:r>
              <a:rPr sz="2800" b="0">
                <a:latin typeface="Times New Roman"/>
              </a:rPr>
              <a:t/>
            </a:r>
          </a:p>
          <a:p>
            <a:r>
              <a:rPr sz="2800" b="0">
                <a:latin typeface="Times New Roman"/>
              </a:rPr>
              <a:t>Team: Prajwal  |  Varadaraju  |  Girisha A</a:t>
            </a:r>
          </a:p>
          <a:p>
            <a:r>
              <a:rPr sz="2800" b="0">
                <a:latin typeface="Times New Roman"/>
              </a:rPr>
              <a:t/>
            </a:r>
          </a:p>
          <a:p>
            <a:r>
              <a:rPr sz="2800" b="0">
                <a:latin typeface="Times New Roman"/>
              </a:rPr>
              <a:t>Please let us know if you have any questions or suggestions!</a:t>
            </a:r>
          </a:p>
        </p:txBody>
      </p:sp>
    </p:spTree>
    <p:extLst>
      <p:ext uri="{BB962C8B-B14F-4D97-AF65-F5344CB8AC3E}">
        <p14:creationId xmlns:p14="http://schemas.microsoft.com/office/powerpoint/2010/main" val="1902955669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/Relationships>
</file>

<file path=ppt/theme/_rels/them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/Relationships>
</file>

<file path=ppt/theme/_rels/them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EB8F22"/>
      </a:accent1>
      <a:accent2>
        <a:srgbClr val="CD4223"/>
      </a:accent2>
      <a:accent3>
        <a:srgbClr val="A89374"/>
      </a:accent3>
      <a:accent4>
        <a:srgbClr val="83AA67"/>
      </a:accent4>
      <a:accent5>
        <a:srgbClr val="4FA9C1"/>
      </a:accent5>
      <a:accent6>
        <a:srgbClr val="9390AF"/>
      </a:accent6>
      <a:hlink>
        <a:srgbClr val="EC7220"/>
      </a:hlink>
      <a:folHlink>
        <a:srgbClr val="F09355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EBEC8F79-A447-43FC-8E81-85E8468AF3F9}"/>
    </a:ext>
  </a:extLst>
</a:theme>
</file>

<file path=ppt/theme/theme3.xml><?xml version="1.0" encoding="utf-8"?>
<a:theme xmlns:a="http://schemas.openxmlformats.org/drawingml/2006/main" name="1_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8BB434"/>
      </a:accent1>
      <a:accent2>
        <a:srgbClr val="33A583"/>
      </a:accent2>
      <a:accent3>
        <a:srgbClr val="3594B4"/>
      </a:accent3>
      <a:accent4>
        <a:srgbClr val="6063B4"/>
      </a:accent4>
      <a:accent5>
        <a:srgbClr val="D35731"/>
      </a:accent5>
      <a:accent6>
        <a:srgbClr val="EBAC4B"/>
      </a:accent6>
      <a:hlink>
        <a:srgbClr val="65AD30"/>
      </a:hlink>
      <a:folHlink>
        <a:srgbClr val="8ED25B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1A9F9826-882C-40B9-8F38-5A3B8CFD196D}"/>
    </a:ext>
  </a:extLst>
</a:theme>
</file>

<file path=ppt/theme/theme4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7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730</TotalTime>
  <Words>970</Words>
  <Application>Microsoft Office PowerPoint</Application>
  <PresentationFormat>Widescreen</PresentationFormat>
  <Paragraphs>132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17</vt:i4>
      </vt:variant>
    </vt:vector>
  </HeadingPairs>
  <TitlesOfParts>
    <vt:vector size="36" baseType="lpstr">
      <vt:lpstr>Arial</vt:lpstr>
      <vt:lpstr>Arial Black</vt:lpstr>
      <vt:lpstr>Bodoni MT</vt:lpstr>
      <vt:lpstr>Calibri</vt:lpstr>
      <vt:lpstr>Calibri Light</vt:lpstr>
      <vt:lpstr>Corbel</vt:lpstr>
      <vt:lpstr>Tahoma</vt:lpstr>
      <vt:lpstr>Times New Roman</vt:lpstr>
      <vt:lpstr>Trebuchet MS</vt:lpstr>
      <vt:lpstr>Tw Cen MT</vt:lpstr>
      <vt:lpstr>Tw Cen MT Condensed</vt:lpstr>
      <vt:lpstr>Wingdings 3</vt:lpstr>
      <vt:lpstr>Circuit</vt:lpstr>
      <vt:lpstr>Parallax</vt:lpstr>
      <vt:lpstr>1_Parallax</vt:lpstr>
      <vt:lpstr>Depth</vt:lpstr>
      <vt:lpstr>Office Theme</vt:lpstr>
      <vt:lpstr>Facet</vt:lpstr>
      <vt:lpstr>Integral</vt:lpstr>
      <vt:lpstr>The National Degree College Bagepalli-561207 Department of computer science </vt:lpstr>
      <vt:lpstr>Agenda</vt:lpstr>
      <vt:lpstr>Introduction  </vt:lpstr>
      <vt:lpstr>PowerPoint Presentation</vt:lpstr>
      <vt:lpstr>PowerPoint Presentation</vt:lpstr>
      <vt:lpstr>Problem statement</vt:lpstr>
      <vt:lpstr>PowerPoint Presentation</vt:lpstr>
      <vt:lpstr>Objectives</vt:lpstr>
      <vt:lpstr>PowerPoint Presentation</vt:lpstr>
      <vt:lpstr>Proposed Methodology</vt:lpstr>
      <vt:lpstr>PowerPoint Presentation</vt:lpstr>
      <vt:lpstr>PowerPoint Presentation</vt:lpstr>
      <vt:lpstr>Results</vt:lpstr>
      <vt:lpstr>Conclusion</vt:lpstr>
      <vt:lpstr>Future Enhancement</vt:lpstr>
      <vt:lpstr>  References</vt:lpstr>
      <vt:lpstr> Thank You!  We’re grateful for your time and  attention.  Let us know if you have any questions or suggestions!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National Degree College Bagepalli-561207 Department of computer science</dc:title>
  <dc:creator>Vyshnavi yshu</dc:creator>
  <cp:lastModifiedBy>Raghu</cp:lastModifiedBy>
  <cp:revision>79</cp:revision>
  <dcterms:created xsi:type="dcterms:W3CDTF">2025-04-15T08:43:49Z</dcterms:created>
  <dcterms:modified xsi:type="dcterms:W3CDTF">2025-04-22T08:27:11Z</dcterms:modified>
</cp:coreProperties>
</file>