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-1371600" y="914400"/>
            <a:ext cx="3200400" cy="5029200"/>
          </a:xfrm>
          <a:prstGeom prst="rect">
            <a:avLst/>
          </a:prstGeom>
          <a:solidFill>
            <a:srgbClr val="16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91440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Times New Roman"/>
              </a:rPr>
              <a:t>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82296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imes New Roman"/>
              </a:rPr>
              <a:t>An Intelligent Student
Performance Prediction
Using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D4FF"/>
                </a:solidFill>
                <a:latin typeface="Times New Roman"/>
              </a:rPr>
              <a:t>Machine Learning + Flask Web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977639"/>
            <a:ext cx="6400800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11480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Times New Roman"/>
              </a:rPr>
              <a:t>Predicts whether a student will PASS or FAIL using
academic, social &amp; personal features — powered by
Logistic Regression, SVM, Random Forest &amp; XGBoost.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5440680"/>
            <a:ext cx="6858000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532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Times New Roman"/>
              </a:rPr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Prajwal   |   Varadaraju   |   Girisha 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457200"/>
            <a:ext cx="2743200" cy="594360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457200"/>
            <a:ext cx="54864" cy="5943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640080"/>
            <a:ext cx="237744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640080"/>
            <a:ext cx="237744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731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261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ML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057400"/>
            <a:ext cx="237744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2057400"/>
            <a:ext cx="237744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  <a:latin typeface="Times New Roman"/>
              </a:rPr>
              <a:t>10+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679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Visualisations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3474720"/>
            <a:ext cx="237744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0" y="3474720"/>
            <a:ext cx="237744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3566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  <a:latin typeface="Times New Roman"/>
              </a:rPr>
              <a:t>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Best 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4892040"/>
            <a:ext cx="237744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80" y="4892040"/>
            <a:ext cx="237744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  <a:latin typeface="Times New Roman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5513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Flask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📋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Times New Roman"/>
              </a:rPr>
              <a:t>What the application does &amp; why it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188720"/>
            <a:ext cx="2834640" cy="34747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188720"/>
            <a:ext cx="64008" cy="3474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261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Times New Roman"/>
              </a:rPr>
              <a:t>⚠️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627632"/>
            <a:ext cx="2651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Educators struggle to identify at-risk students early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Manual assessments are time-consuming and subjective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Need for a data-driven, scalable early-warning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188720"/>
            <a:ext cx="2834640" cy="34747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188720"/>
            <a:ext cx="64008" cy="347472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261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Times New Roman"/>
              </a:rPr>
              <a:t>✅  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27632"/>
            <a:ext cx="2651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An ML-powered Flask web app that predicts pass/fail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Trained on real student lifestyle + academic data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Generates actionable insights and downloadable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8192" y="1188720"/>
            <a:ext cx="2834640" cy="34747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1188720"/>
            <a:ext cx="64008" cy="3474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261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Times New Roman"/>
              </a:rPr>
              <a:t>🌟  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1627632"/>
            <a:ext cx="2651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Upload any CSV/Excel dataset for instant predictions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Auto-selects the best ML algorithm (CV-based)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Visualisations: SHAP, feature importance, heatmaps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Manual single-student prediction with deep explanations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1704" y="1188720"/>
            <a:ext cx="2834640" cy="34747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188720"/>
            <a:ext cx="64008" cy="3474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2618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Times New Roman"/>
              </a:rPr>
              <a:t>🚀 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1627632"/>
            <a:ext cx="2651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Empowers teachers with early intervention capability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Students receive personalised improvement tips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D6E8"/>
                </a:solidFill>
                <a:latin typeface="Times New Roman"/>
              </a:rPr>
              <a:t>›  Schools gain data-driven decision-making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⚙️ 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Times New Roman"/>
              </a:rPr>
              <a:t>Languages, frameworks and libraries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188720"/>
            <a:ext cx="5486400" cy="53035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188720"/>
            <a:ext cx="64008" cy="5303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618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Times New Roman"/>
              </a:rPr>
              <a:t>🐍  Backend &amp; 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28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Times New Roman"/>
              </a:rPr>
              <a:t>Python 3.x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562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Core programming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7744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Times New Roman"/>
              </a:rPr>
              <a:t>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404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Lightweight web framework (server &amp; routing)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8036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9260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Times New Roman"/>
              </a:rP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53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ML pipelines: LR, SVM, Random 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2900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4747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Times New Roman"/>
              </a:rPr>
              <a:t>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5021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Gradient boosted trees for high 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7764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0233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Times New Roman"/>
              </a:rPr>
              <a:t>SHAP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0507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Model explainability &amp; feature attribution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2628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572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Times New Roman"/>
              </a:rPr>
              <a:t>Pandas / NumPy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599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Data manipulation and array operations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07492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12064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Times New Roman"/>
              </a:rPr>
              <a:t>Matplotlib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1480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Chart &amp; visualisation generation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62356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692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Times New Roman"/>
              </a:rPr>
              <a:t>Joblib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6967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Model serialisation (model.pkl)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0448" y="1188720"/>
            <a:ext cx="6126480" cy="530352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70448" y="1188720"/>
            <a:ext cx="64008" cy="53035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261872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Times New Roman"/>
              </a:rPr>
              <a:t>🌐  Frontend &amp; Outputs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78308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1828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Times New Roman"/>
              </a:rPr>
              <a:t>Jinja2 Templates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185623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Dynamic HTML rendering via Flask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233172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3774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Times New Roman"/>
              </a:rPr>
              <a:t>Bootstrap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24048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Responsive UI grid and components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288036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2926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Times New Roman"/>
              </a:rPr>
              <a:t>HTML / CSS / JS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29535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Rich interactive frontend interfaces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42900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3474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Times New Roman"/>
              </a:rPr>
              <a:t>Chart Generation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350215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10+ auto-generated PNG chart files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397764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4023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Times New Roman"/>
              </a:rPr>
              <a:t>CSV / Excel Upload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405079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Multi-format file ingestion (pandas)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452628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4572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Times New Roman"/>
              </a:rPr>
              <a:t>Downloadable 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459943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Prediction results exported as CSV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507492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51206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Times New Roman"/>
              </a:rPr>
              <a:t>SHAP Summary Plot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51480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Tree-explainer visualisation per model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562356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60" y="56692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Times New Roman"/>
              </a:rPr>
              <a:t>Bootstrap Tabs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56967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Upload / Manual Entry / Results tabs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🔄  System Architecture &amp;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Times New Roman"/>
              </a:rPr>
              <a:t>How data moves through the application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371600"/>
            <a:ext cx="1828800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Times New Roman"/>
              </a:rPr>
              <a:t>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18488" y="1417320"/>
            <a:ext cx="347472" cy="3474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Times New Roman"/>
              </a:rPr>
              <a:t>Dataset
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CSV/Excel upload
or default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9696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39696" y="1371600"/>
            <a:ext cx="182880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1136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Times New Roman"/>
              </a:rPr>
              <a:t>⚙️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57016" y="1417320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7016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Times New Roman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Times New Roman"/>
              </a:rP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OneHotEncoder
+ passthrough nums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78224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78224" y="1371600"/>
            <a:ext cx="1828800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9664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Times New Roman"/>
              </a:rPr>
              <a:t>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95544" y="1417320"/>
            <a:ext cx="347472" cy="34747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5544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Times New Roman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676"/>
                </a:solidFill>
                <a:latin typeface="Times New Roman"/>
              </a:rPr>
              <a:t>ML Training
&amp;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3944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5 algorithms trained
best picked by CV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6168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6752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16752" y="1371600"/>
            <a:ext cx="1828800" cy="64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Times New Roman"/>
              </a:rPr>
              <a:t>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34072" y="1417320"/>
            <a:ext cx="347472" cy="34747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34072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Times New Roman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6B"/>
                </a:solidFill>
                <a:latin typeface="Times New Roman"/>
              </a:rPr>
              <a:t>Predictions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2472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Pass / Fail +
probability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54696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55280" y="1371600"/>
            <a:ext cx="1828800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Times New Roman"/>
              </a:rPr>
              <a:t>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1417320"/>
            <a:ext cx="347472" cy="34747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Times New Roman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2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Times New Roman"/>
              </a:rPr>
              <a:t>Visualisations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10 auto-generated
charts &amp; heatmaps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93224" y="26517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93808" y="1371600"/>
            <a:ext cx="1828800" cy="32004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93808" y="1371600"/>
            <a:ext cx="182880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85248" y="1600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Times New Roman"/>
              </a:rPr>
              <a:t>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311128" y="1417320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11128" y="1417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Times New Roman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2249424"/>
            <a:ext cx="16824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Times New Roman"/>
              </a:rPr>
              <a:t>Insights
&amp; Export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39528" y="297180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Feedback + SHAP
+ CSV download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📊  Dataset &amp;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Times New Roman"/>
              </a:rPr>
              <a:t>Student lifestyle, academic &amp; demographic attributes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34440"/>
            <a:ext cx="3566160" cy="402336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234440"/>
            <a:ext cx="64008" cy="40233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29844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Times New Roman"/>
              </a:rPr>
              <a:t>🏫 Academic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737360"/>
            <a:ext cx="34015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Times New Roman"/>
              </a:rPr>
              <a:t>› school
› studytime
› failures
› schoolsup
› famsup
› paid
› activities
› higher
› absences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77056" y="1234440"/>
            <a:ext cx="3566160" cy="402336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77056" y="1234440"/>
            <a:ext cx="64008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129844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Times New Roman"/>
              </a:rPr>
              <a:t>👤 Personal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1737360"/>
            <a:ext cx="34015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Times New Roman"/>
              </a:rPr>
              <a:t>› sex
› age
› address
› famsize
› Pstatus
› Medu
› Fedu
› guardian
› nursery
› internet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52944" y="1234440"/>
            <a:ext cx="3566160" cy="402336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52944" y="1234440"/>
            <a:ext cx="64008" cy="402336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29844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Times New Roman"/>
              </a:rPr>
              <a:t>🌐 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737360"/>
            <a:ext cx="34015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Times New Roman"/>
              </a:rPr>
              <a:t>› romantic
› traveltime
› freetime
› goout
› Dalc
› Walc
› health
› Mjob
› Fjob
› reason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5349240"/>
            <a:ext cx="11786616" cy="123444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" y="5349240"/>
            <a:ext cx="11786616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422392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  <a:latin typeface="Times New Roman"/>
              </a:rPr>
              <a:t>🎯  Target Column:  passed   (yes = Pass, no = Fail)    |    Source: Student Performance dataset (Cortez &amp; Silva, 2008)    |    395+ student records    |    Balanced via class-weight computation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🤖  ML Algorithms &amp; 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Times New Roman"/>
              </a:rPr>
              <a:t>5 algorithms evaluated — best chosen by StratifiedKFold CV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298448"/>
            <a:ext cx="274320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371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Algorithm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298448"/>
            <a:ext cx="155448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3716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CV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137160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71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298448"/>
            <a:ext cx="137160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371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298448"/>
            <a:ext cx="137160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371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F1-Score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1298448"/>
            <a:ext cx="118872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3716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Best?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773936"/>
            <a:ext cx="27432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191109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Logistic Regression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1773936"/>
            <a:ext cx="155448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191109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64.8 %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1773936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91109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0.714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1773936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191109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0.660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1773936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191109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0.686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1773936"/>
            <a:ext cx="118872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191109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432304"/>
            <a:ext cx="27432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25694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SVM (linear kernel)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2432304"/>
            <a:ext cx="155448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800" y="256946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65.3 %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2432304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256946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0.723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2432304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80" y="256946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0.642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2432304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256946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0.680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432304"/>
            <a:ext cx="118872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256946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3090672"/>
            <a:ext cx="274320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3090672"/>
            <a:ext cx="274320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32278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  <a:latin typeface="Times New Roman"/>
              </a:rPr>
              <a:t>SVM (RBF kernel)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26080" y="3090672"/>
            <a:ext cx="155448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26080" y="3090672"/>
            <a:ext cx="155448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32278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  <a:latin typeface="Times New Roman"/>
              </a:rPr>
              <a:t>70.1 %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60" y="3090672"/>
            <a:ext cx="137160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80560" y="3090672"/>
            <a:ext cx="137160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80" y="32278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  <a:latin typeface="Times New Roman"/>
              </a:rPr>
              <a:t>0.710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3090672"/>
            <a:ext cx="137160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52160" y="3090672"/>
            <a:ext cx="137160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32278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  <a:latin typeface="Times New Roman"/>
              </a:rPr>
              <a:t>0.830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23760" y="3090672"/>
            <a:ext cx="137160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23760" y="3090672"/>
            <a:ext cx="137160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69480" y="32278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8"/>
                </a:solidFill>
                <a:latin typeface="Times New Roman"/>
              </a:rPr>
              <a:t>0.765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3090672"/>
            <a:ext cx="1188720" cy="621792"/>
          </a:xfrm>
          <a:prstGeom prst="rect">
            <a:avLst/>
          </a:prstGeom>
          <a:solidFill>
            <a:srgbClr val="12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95360" y="3090672"/>
            <a:ext cx="1188720" cy="2743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1080" y="32278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  <a:latin typeface="Times New Roman"/>
              </a:rPr>
              <a:t>🏆 BEST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749040"/>
            <a:ext cx="27432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3886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Random Forest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26080" y="3749040"/>
            <a:ext cx="155448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38862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68.6 %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0" y="3749040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26280" y="3886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0.681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52160" y="3749040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97880" y="3886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0.925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23760" y="3749040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69480" y="3886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0.784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3749040"/>
            <a:ext cx="118872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41080" y="3886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407408"/>
            <a:ext cx="27432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28600" y="454456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XGBoost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26080" y="4407408"/>
            <a:ext cx="155448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71800" y="45445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67.8 %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80560" y="4407408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26280" y="45445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0.714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52160" y="4407408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97880" y="45445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0.849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23760" y="4407408"/>
            <a:ext cx="137160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69480" y="45445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0.776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95360" y="4407408"/>
            <a:ext cx="1188720" cy="621792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41080" y="45445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8"/>
                </a:solidFill>
                <a:latin typeface="Times New Roman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2880" y="6080760"/>
            <a:ext cx="11823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  <a:latin typeface="Times New Roman"/>
              </a:rPr>
              <a:t>📌  Model selection uses StratifiedKFold cross-validation for robustness on smaller datasets. Balanced class weights handle the pass/fail imbalance.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📈  Visualisations &amp; 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Times New Roman"/>
              </a:rPr>
              <a:t>10 auto-generated charts help analyse predictions deeply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280160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280160"/>
            <a:ext cx="228600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280160"/>
            <a:ext cx="45720" cy="1463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371600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Times New Roman"/>
              </a:rPr>
              <a:t>Predicted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Times New Roman"/>
              </a:rPr>
              <a:t>Bar chart of pass vs fail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2032" y="1280160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2032" y="1280160"/>
            <a:ext cx="228600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2032" y="1280160"/>
            <a:ext cx="45720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15184" y="1371600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Times New Roman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Times New Roman"/>
              </a:rPr>
              <a:t>Study Time vs Perf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Times New Roman"/>
              </a:rPr>
              <a:t>Avg study time: pass cohort vs fail cohort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01184" y="1280160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01184" y="1280160"/>
            <a:ext cx="2286000" cy="4572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1184" y="1280160"/>
            <a:ext cx="45720" cy="1463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74336" y="1371600"/>
            <a:ext cx="320040" cy="320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4336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Times New Roman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  <a:latin typeface="Times New Roman"/>
              </a:rPr>
              <a:t>Absence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Times New Roman"/>
              </a:rPr>
              <a:t>Histogram of student absence frequency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0336" y="1280160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60336" y="1280160"/>
            <a:ext cx="22860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0336" y="1280160"/>
            <a:ext cx="45720" cy="1463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33488" y="1371600"/>
            <a:ext cx="320040" cy="320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Times New Roman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6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Times New Roman"/>
              </a:rPr>
              <a:t>Past Failures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1776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Times New Roman"/>
              </a:rPr>
              <a:t>Avg previous failures per prediction group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19488" y="1280160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19488" y="1280160"/>
            <a:ext cx="2286000" cy="457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19488" y="1280160"/>
            <a:ext cx="45720" cy="1463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2640" y="1371600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Times New Roman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8" y="173736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Times New Roman"/>
              </a:rPr>
              <a:t>Correlation Heatmap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Times New Roman"/>
              </a:rPr>
              <a:t>Feature-to-prediction Pearson correlations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2852928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2880" y="2852928"/>
            <a:ext cx="228600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2852928"/>
            <a:ext cx="45720" cy="1463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" y="2944368"/>
            <a:ext cx="3200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Times New Roman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3310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Times New Roman"/>
              </a:rPr>
              <a:t>Confusion Matrix (Raw)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37216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Times New Roman"/>
              </a:rPr>
              <a:t>TP / FP / FN / TN counts for best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42032" y="2852928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42032" y="2852928"/>
            <a:ext cx="228600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42032" y="2852928"/>
            <a:ext cx="45720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15184" y="294436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15184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Times New Roman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33472" y="3310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Times New Roman"/>
              </a:rPr>
              <a:t>Confusion Matrix (Norm)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33472" y="37216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Times New Roman"/>
              </a:rPr>
              <a:t>Row-normalised % predictions by true class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01184" y="2852928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1184" y="2852928"/>
            <a:ext cx="2286000" cy="4572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01184" y="2852928"/>
            <a:ext cx="45720" cy="1463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74336" y="2944368"/>
            <a:ext cx="320040" cy="3200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74336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Times New Roman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92624" y="3310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  <a:latin typeface="Times New Roman"/>
              </a:rPr>
              <a:t>Algo Comparison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92624" y="37216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Times New Roman"/>
              </a:rPr>
              <a:t>CV accuracy bar chart across all 5 models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0336" y="2852928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60336" y="2852928"/>
            <a:ext cx="228600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260336" y="2852928"/>
            <a:ext cx="45720" cy="1463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33488" y="2944368"/>
            <a:ext cx="320040" cy="3200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33488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Times New Roman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51776" y="3310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Times New Roman"/>
              </a:rPr>
              <a:t>Feature Importance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51776" y="37216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Times New Roman"/>
              </a:rPr>
              <a:t>Top 15 features (Random Forest / XGBoost)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19488" y="2852928"/>
            <a:ext cx="2286000" cy="146304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19488" y="2852928"/>
            <a:ext cx="2286000" cy="4572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19488" y="2852928"/>
            <a:ext cx="45720" cy="1463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692640" y="2944368"/>
            <a:ext cx="320040" cy="320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92640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Times New Roman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10928" y="33101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  <a:latin typeface="Times New Roman"/>
              </a:rPr>
              <a:t>SHAP Summary Plot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10928" y="37216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Times New Roman"/>
              </a:rPr>
              <a:t>Per-feature directional impact on predictions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🖥️  Web Application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Times New Roman"/>
              </a:rPr>
              <a:t>Three powerful tabs for complete student performance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80160"/>
            <a:ext cx="3749039" cy="52120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280160"/>
            <a:ext cx="3749039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3716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Times New Roman"/>
              </a:rPr>
              <a:t>📂  Tab 1: Upload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92024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" y="1920240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99339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Upload any CSV / Excel file for bulk predictions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2633472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" y="2633472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706624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Validates required column presence automatically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3346704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6" y="3346704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419856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Displays prediction results + probability% in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" y="4059936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" y="4059936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4133088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Generates all 10 charts instantly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4773168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" y="4773168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846320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Download full predictions as timestamped CSV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548640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0896" y="5486400"/>
            <a:ext cx="45720" cy="62179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555955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Shows insights &amp; AI-generated feedback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41647" y="1280160"/>
            <a:ext cx="3749039" cy="52120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41647" y="1280160"/>
            <a:ext cx="3749039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33087" y="13716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Times New Roman"/>
              </a:rPr>
              <a:t>✍️  Tab 2: Manual Entry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51375" y="192024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51375" y="1920240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0247" y="199339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Enter data for one student via interactive 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51375" y="2633472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51375" y="2633472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7" y="2706624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Instantly predicts Pass / Fail with probability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51375" y="3346704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51375" y="3346704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0247" y="3419856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Shows strength &amp; risk factor analysis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51375" y="4059936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51375" y="4059936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247" y="4133088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Impact meter for each key factor (study, absences…)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51375" y="4773168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51375" y="4773168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70247" y="4846320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Provides personalised action tips per risk area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51375" y="548640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51375" y="5486400"/>
            <a:ext cx="45720" cy="6217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0247" y="555955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Deep AI-driven explanation of the prediction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82126" y="1280160"/>
            <a:ext cx="3749039" cy="52120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2126" y="1280160"/>
            <a:ext cx="3749039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3566" y="13716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Times New Roman"/>
              </a:rPr>
              <a:t>📊  Tab 3: Default Dataset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91854" y="192024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91854" y="1920240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10726" y="199339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Loads built-in student_data.csv on GET request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91854" y="2633472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991854" y="2633472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10726" y="2706624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Shows pre-computed predictions table (top 20 rows)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91854" y="3346704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91854" y="3346704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10726" y="3419856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All visualisation charts rendered automatically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91854" y="4059936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91854" y="4059936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0726" y="4133088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Training dataset preview (first 20 rows)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91854" y="4773168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91854" y="4773168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10726" y="4846320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Algorithm details with best model highlighted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91854" y="5486400"/>
            <a:ext cx="3529583" cy="6217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91854" y="5486400"/>
            <a:ext cx="45720" cy="621792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10726" y="5559552"/>
            <a:ext cx="3410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Full metrics table (accuracy, precision, recall, F1)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🚀  How to Run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Times New Roman"/>
              </a:rPr>
              <a:t>Getting the project up and running in 4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71600"/>
            <a:ext cx="2743200" cy="41148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371600"/>
            <a:ext cx="64008" cy="4114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640080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Times New Roma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Times New Roman"/>
              </a:rPr>
              <a:t>Install Dependencies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2852928"/>
            <a:ext cx="2523744" cy="2286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" y="2852928"/>
            <a:ext cx="36576" cy="22860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4436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676"/>
                </a:solidFill>
                <a:latin typeface="Courier New"/>
              </a:rPr>
              <a:t>pip install flask pandas numpy scikit-learn
         matplotlib joblib xgboost shap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371600"/>
            <a:ext cx="2743200" cy="41148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0" y="1371600"/>
            <a:ext cx="64008" cy="4114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508760"/>
            <a:ext cx="640080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Times New Roman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Times New Roman"/>
              </a:rPr>
              <a:t>Add Training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2852928"/>
            <a:ext cx="2523744" cy="2286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18688" y="2852928"/>
            <a:ext cx="36576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294436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676"/>
                </a:solidFill>
                <a:latin typeface="Courier New"/>
              </a:rPr>
              <a:t>Place  student_data.csv  inside the
uploads/  folder (ensure 'passed' column exists)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16752" y="1371600"/>
            <a:ext cx="2743200" cy="41148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16752" y="1371600"/>
            <a:ext cx="64008" cy="41148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508760"/>
            <a:ext cx="640080" cy="64008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2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Times New Roman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Times New Roman"/>
              </a:rPr>
              <a:t>Train the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852928"/>
            <a:ext cx="2523744" cy="2286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2852928"/>
            <a:ext cx="36576" cy="228600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94436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676"/>
                </a:solidFill>
                <a:latin typeface="Courier New"/>
              </a:rPr>
              <a:t>python train_model.py
Generates model.pkl, algo_metrics.json &amp; all charts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24544" y="1371600"/>
            <a:ext cx="2743200" cy="41148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24544" y="1371600"/>
            <a:ext cx="64008" cy="41148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07424" y="1508760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07424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A"/>
                </a:solidFill>
                <a:latin typeface="Times New Roman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Times New Roman"/>
              </a:rPr>
              <a:t>Launch the App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34272" y="2852928"/>
            <a:ext cx="2523744" cy="2286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34272" y="2852928"/>
            <a:ext cx="36576" cy="2286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5712" y="2944368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E676"/>
                </a:solidFill>
                <a:latin typeface="Courier New"/>
              </a:rPr>
              <a:t>python app.py
Open browser → http://127.0.0.1:5000/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" y="5650992"/>
            <a:ext cx="11786616" cy="77724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1168" y="5650992"/>
            <a:ext cx="11786616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24144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CD6E8"/>
                </a:solidFill>
                <a:latin typeface="Times New Roman"/>
              </a:rPr>
              <a:t>📌  Tip: To re-train with new data, update student_data.csv in uploads/ and re-run train_model.py. The app will auto-load the new model.pkl on next startup.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680313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🏁  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40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D4FF"/>
                </a:solidFill>
                <a:latin typeface="Times New Roman"/>
              </a:rPr>
              <a:t>What we achieved and where we can go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34440"/>
            <a:ext cx="5486400" cy="52120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234440"/>
            <a:ext cx="64008" cy="521208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07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676"/>
                </a:solidFill>
                <a:latin typeface="Times New Roman"/>
              </a:rPr>
              <a:t>✅  What We Achieved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89280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✓  End-to-end Flask web app with ML 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7744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7744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414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✓  Auto-selects best model via cross-validation (70%+ CV accuracy)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99008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✓  Supports bulk CSV/Excel upload &amp; single student manual input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7472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47472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53872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✓  SHAP explainability for transparent AI decision-making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2336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02336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08736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✓  10 automated visualisation charts per prediction 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7200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57200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3600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✓  Personalised feedback &amp; actionable tips per student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12064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12064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18464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✓  Downloadable timestamped prediction reports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669280"/>
            <a:ext cx="521208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669280"/>
            <a:ext cx="36576" cy="47548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73328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8"/>
                </a:solidFill>
                <a:latin typeface="Times New Roman"/>
              </a:rPr>
              <a:t>✓  Clean, responsive Bootstrap 5 UI with dark-theme charts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1234440"/>
            <a:ext cx="6080760" cy="52120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97880" y="1234440"/>
            <a:ext cx="64008" cy="5212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62472" y="1307592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Times New Roman"/>
              </a:rPr>
              <a:t>🔭  Future Enhancements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6752" y="182880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16752" y="182880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18836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Times New Roman"/>
              </a:rPr>
              <a:t>🧠 Deep Learning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18836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Add LSTM / neural-net models for richer patterns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16752" y="237744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16752" y="237744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24323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Times New Roman"/>
              </a:rPr>
              <a:t>☁️ Cloud Deployment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243230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Deploy on AWS / Heroku with CI/CD pipeline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292608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16752" y="292608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29809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Times New Roman"/>
              </a:rPr>
              <a:t>🔔 Alert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298094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Email/SMS early warnings for at-risk students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16752" y="347472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16752" y="347472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35295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Times New Roman"/>
              </a:rPr>
              <a:t>👨‍🏫 Teacher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52958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Role-based teacher &amp; admin dashboard views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16752" y="402336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16752" y="402336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80" y="40782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Times New Roman"/>
              </a:rPr>
              <a:t>📱 Mobile App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40782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React Native / Flutter companion mobile app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16752" y="457200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16752" y="457200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46268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Times New Roman"/>
              </a:rPr>
              <a:t>🔐 Authentication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46268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Login / logout with JWT-based user accounts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16752" y="512064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6752" y="512064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0" y="51755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Times New Roman"/>
              </a:rPr>
              <a:t>📚 Multi-subject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517550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Extend to multiple subjects &amp; grade levels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6752" y="5669280"/>
            <a:ext cx="5852160" cy="475488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6752" y="5669280"/>
            <a:ext cx="3657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26480" y="57241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Times New Roman"/>
              </a:rPr>
              <a:t>🤝 API Integration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572414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Times New Roman"/>
              </a:rPr>
              <a:t>REST API for LMS (Moodle / Canvas) integration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914400"/>
            <a:ext cx="7589520" cy="502920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914400"/>
            <a:ext cx="758952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5870448"/>
            <a:ext cx="7589520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097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Times New Roman"/>
              </a:rPr>
              <a:t>🙏  Thank You!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920240"/>
            <a:ext cx="5760720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057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D4FF"/>
                </a:solidFill>
                <a:latin typeface="Times New Roman"/>
              </a:rPr>
              <a:t>An Intelligent Student Performance Prediction Using 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834640"/>
            <a:ext cx="6400800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971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Times New Roman"/>
              </a:rPr>
              <a:t>Team Members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3429000"/>
            <a:ext cx="219456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3429000"/>
            <a:ext cx="2194560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520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Prajwal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3429000"/>
            <a:ext cx="219456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3429000"/>
            <a:ext cx="2194560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520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Varadaraju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429000"/>
            <a:ext cx="2194560" cy="1188720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3429000"/>
            <a:ext cx="2194560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520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Girisha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6E8"/>
                </a:solidFill>
                <a:latin typeface="Times New Roman"/>
              </a:rPr>
              <a:t>Guided by Department of Computer Science &amp;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6E8"/>
                </a:solidFill>
                <a:latin typeface="Times New Roman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