
<file path=[Content_Types].xml><?xml version="1.0" encoding="utf-8"?>
<Types xmlns="http://schemas.openxmlformats.org/package/2006/content-types">
  <Default Extension="img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4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5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6.xml" ContentType="application/vnd.openxmlformats-officedocument.theme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5" r:id="rId1"/>
    <p:sldMasterId id="2147483921" r:id="rId2"/>
    <p:sldMasterId id="2147483939" r:id="rId3"/>
    <p:sldMasterId id="2147483957" r:id="rId4"/>
    <p:sldMasterId id="2147483975" r:id="rId5"/>
    <p:sldMasterId id="2147483987" r:id="rId6"/>
    <p:sldMasterId id="2147484130" r:id="rId7"/>
  </p:sldMasterIdLst>
  <p:notesMasterIdLst>
    <p:notesMasterId r:id="rId25"/>
  </p:notesMasterIdLst>
  <p:sldIdLst>
    <p:sldId id="256" r:id="rId8"/>
    <p:sldId id="257" r:id="rId9"/>
    <p:sldId id="258" r:id="rId10"/>
    <p:sldId id="272" r:id="rId11"/>
    <p:sldId id="267" r:id="rId12"/>
    <p:sldId id="259" r:id="rId13"/>
    <p:sldId id="268" r:id="rId14"/>
    <p:sldId id="260" r:id="rId15"/>
    <p:sldId id="269" r:id="rId16"/>
    <p:sldId id="261" r:id="rId17"/>
    <p:sldId id="270" r:id="rId18"/>
    <p:sldId id="271" r:id="rId19"/>
    <p:sldId id="262" r:id="rId20"/>
    <p:sldId id="263" r:id="rId21"/>
    <p:sldId id="264" r:id="rId22"/>
    <p:sldId id="265" r:id="rId23"/>
    <p:sldId id="27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63" autoAdjust="0"/>
    <p:restoredTop sz="95196" autoAdjust="0"/>
  </p:normalViewPr>
  <p:slideViewPr>
    <p:cSldViewPr snapToGrid="0">
      <p:cViewPr varScale="1">
        <p:scale>
          <a:sx n="89" d="100"/>
          <a:sy n="89" d="100"/>
        </p:scale>
        <p:origin x="49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B734A3-EFB0-49FD-858F-BED520DD9E1A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E26258-0FF5-48C4-8F05-56EB094578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188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E26258-0FF5-48C4-8F05-56EB0945784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401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308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41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417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07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659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092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420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664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238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918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031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7857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3252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4127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24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65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6553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125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5640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724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5805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7731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1633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246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385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7703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5353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2298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2613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779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944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7786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9261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8542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0320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12330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83947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5824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3001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849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9209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06308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0090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7966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038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70109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3618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13153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7213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88308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354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02509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838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86316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9585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27655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9690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81048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5603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3688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6018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8903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135385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61637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81169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99867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9328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73395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AA9A0-F939-792E-0AA3-CF20097330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73D1D0-1246-5383-984F-2EDD0F2BC8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980C4-6761-3304-CC64-FF66B5F22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ACA5F-C6F8-EF39-33EA-016A344FB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236E7-5C2C-6909-D9EF-3A3521657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07448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BD03B-AA14-E54A-A420-BB6E4C0E1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DF8E8-6D5E-AA34-BB7F-CA6C10FEE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35690-188D-BBF9-5433-3D378EB1B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8F903-76C2-2F9F-9C91-2623B298C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13748-1134-0462-9DDC-AC372BAE5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97278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258FE-B129-746F-ADDA-28D4C2CF2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B7A62-4974-8F58-622A-304EDED5E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30111-2673-F9A2-9756-B4654264E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AA276-9251-7142-2BF5-38D622AF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B6C4E-57BE-81A7-EB5F-23A9FF39A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0048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D7426-3E05-AD81-09D0-A2F516200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64399-A06F-5782-18FF-E7CD13C7E5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E1329D-AB1A-504A-269B-60F8556B2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AED7C-40B6-3977-372E-E31BD96F7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A8004D-4D2E-0958-B71B-6EFA87CAA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BE9041-B851-15DF-F704-43D9A0B0F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7837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E76E2-248A-5CF2-FD46-01D5ED45F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4904A-5B64-FE4C-1534-517D42E60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687C78-ED3C-6CDA-AFCA-BB4C319626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EEFE5A-47DE-CE0D-2C24-35B4BCA168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A31BB-AB4F-08FE-6926-8BBD7E4BBC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75215C-972D-31C0-AABC-2F591903D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1E2EF7-6C82-5751-B474-9B212512C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3118A-04A4-EC8A-64C1-F0050B00E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46633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1ABDC-C6FD-C973-696F-6FA0DC146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AC46E-C065-CA6A-FC2B-C5457427B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BE8D83-8D01-D607-09B0-A18CBB1F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563CF4-BFE2-1079-0F4F-929EDF462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2162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451AEE-2FE0-F237-3F72-AD19AB794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79E7B5-1921-D47E-D0DD-239C694F4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82081-F9A6-CEEB-FEB1-5EA9D2774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08765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881C3-E23D-C67A-4BE3-F75C83CA7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CE407-774A-C979-7B53-762C342BB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D20B59-175B-1CDE-1912-BB010F5DB3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1586C7-9841-9884-61DC-E0889DC58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634AA-01AB-44A3-F95F-8B61E7A53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9D424-957C-AA1C-C6F9-96688C9A3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91914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489E4-40D3-3FA5-DF2E-E33D816D8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8B2B3B-0A4C-3C3C-6CA1-50D4DD3FD2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A472F4-EC54-3ECC-AD6B-16DEFA2B2A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72541-36FC-F993-07A4-2660D016F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D262AF-47A1-B074-AE6A-791370F76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15E9A-9A63-957E-2D19-6622256AB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80390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91D1D-B324-5B6C-B008-093A5FE8A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64967D-12BE-E6EA-C27C-5635EE8F4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62DBC-2919-C1F4-AB26-94D4776C1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C5123-2930-CA26-4EAE-D238DC2A7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A6C12-30F2-CDFB-345F-425A7BC30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8566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D3379B-7607-5F48-E193-152C47DC9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70817F-EFAC-9E9C-4A68-6B8CE4B78D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55972-B67D-C9E2-A7A2-1AFECC180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AC9EE-65D9-0E1F-F6AA-74FC48B2C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8DD1E-E865-E1F7-010B-DE484E318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2813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85647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827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97924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05394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70155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92873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11727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33876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6049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6804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716783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41337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846136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905179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4342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282083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52509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9935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35882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03383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212207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97480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701791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954855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042497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915024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8891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1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13" Type="http://schemas.openxmlformats.org/officeDocument/2006/relationships/slideLayout" Target="../slideLayouts/slideLayout92.xml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91.xml"/><Relationship Id="rId17" Type="http://schemas.openxmlformats.org/officeDocument/2006/relationships/theme" Target="../theme/theme6.xml"/><Relationship Id="rId2" Type="http://schemas.openxmlformats.org/officeDocument/2006/relationships/slideLayout" Target="../slideLayouts/slideLayout81.xml"/><Relationship Id="rId16" Type="http://schemas.openxmlformats.org/officeDocument/2006/relationships/slideLayout" Target="../slideLayouts/slideLayout95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Relationship Id="rId14" Type="http://schemas.openxmlformats.org/officeDocument/2006/relationships/slideLayout" Target="../slideLayouts/slideLayout9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98.xml"/><Relationship Id="rId7" Type="http://schemas.openxmlformats.org/officeDocument/2006/relationships/slideLayout" Target="../slideLayouts/slideLayout102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97.xml"/><Relationship Id="rId1" Type="http://schemas.openxmlformats.org/officeDocument/2006/relationships/slideLayout" Target="../slideLayouts/slideLayout96.xml"/><Relationship Id="rId6" Type="http://schemas.openxmlformats.org/officeDocument/2006/relationships/slideLayout" Target="../slideLayouts/slideLayout101.xml"/><Relationship Id="rId11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0.xml"/><Relationship Id="rId10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99.xml"/><Relationship Id="rId9" Type="http://schemas.openxmlformats.org/officeDocument/2006/relationships/slideLayout" Target="../slideLayouts/slideLayout10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30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0" r:id="rId5"/>
    <p:sldLayoutId id="2147483891" r:id="rId6"/>
    <p:sldLayoutId id="2147483892" r:id="rId7"/>
    <p:sldLayoutId id="2147483893" r:id="rId8"/>
    <p:sldLayoutId id="2147483894" r:id="rId9"/>
    <p:sldLayoutId id="2147483895" r:id="rId10"/>
    <p:sldLayoutId id="2147483896" r:id="rId11"/>
    <p:sldLayoutId id="2147483897" r:id="rId12"/>
    <p:sldLayoutId id="2147483898" r:id="rId13"/>
    <p:sldLayoutId id="2147483899" r:id="rId14"/>
    <p:sldLayoutId id="2147483900" r:id="rId15"/>
    <p:sldLayoutId id="2147483901" r:id="rId16"/>
    <p:sldLayoutId id="214748390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19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2" r:id="rId1"/>
    <p:sldLayoutId id="2147483923" r:id="rId2"/>
    <p:sldLayoutId id="2147483924" r:id="rId3"/>
    <p:sldLayoutId id="2147483925" r:id="rId4"/>
    <p:sldLayoutId id="2147483926" r:id="rId5"/>
    <p:sldLayoutId id="2147483927" r:id="rId6"/>
    <p:sldLayoutId id="2147483928" r:id="rId7"/>
    <p:sldLayoutId id="2147483929" r:id="rId8"/>
    <p:sldLayoutId id="2147483930" r:id="rId9"/>
    <p:sldLayoutId id="2147483931" r:id="rId10"/>
    <p:sldLayoutId id="2147483932" r:id="rId11"/>
    <p:sldLayoutId id="2147483933" r:id="rId12"/>
    <p:sldLayoutId id="2147483934" r:id="rId13"/>
    <p:sldLayoutId id="2147483935" r:id="rId14"/>
    <p:sldLayoutId id="2147483936" r:id="rId15"/>
    <p:sldLayoutId id="2147483937" r:id="rId16"/>
    <p:sldLayoutId id="214748393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862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  <p:sldLayoutId id="2147483951" r:id="rId12"/>
    <p:sldLayoutId id="2147483952" r:id="rId13"/>
    <p:sldLayoutId id="2147483953" r:id="rId14"/>
    <p:sldLayoutId id="2147483954" r:id="rId15"/>
    <p:sldLayoutId id="2147483955" r:id="rId16"/>
    <p:sldLayoutId id="214748395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515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58" r:id="rId1"/>
    <p:sldLayoutId id="2147483959" r:id="rId2"/>
    <p:sldLayoutId id="2147483960" r:id="rId3"/>
    <p:sldLayoutId id="2147483961" r:id="rId4"/>
    <p:sldLayoutId id="2147483962" r:id="rId5"/>
    <p:sldLayoutId id="2147483963" r:id="rId6"/>
    <p:sldLayoutId id="2147483964" r:id="rId7"/>
    <p:sldLayoutId id="2147483965" r:id="rId8"/>
    <p:sldLayoutId id="2147483966" r:id="rId9"/>
    <p:sldLayoutId id="2147483967" r:id="rId10"/>
    <p:sldLayoutId id="2147483968" r:id="rId11"/>
    <p:sldLayoutId id="2147483969" r:id="rId12"/>
    <p:sldLayoutId id="2147483970" r:id="rId13"/>
    <p:sldLayoutId id="2147483971" r:id="rId14"/>
    <p:sldLayoutId id="2147483972" r:id="rId15"/>
    <p:sldLayoutId id="2147483973" r:id="rId16"/>
    <p:sldLayoutId id="214748397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5CF253-59F2-EB10-1F36-7E1C6A3E0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81B51-2B62-A4DE-6AC1-1CA2F042A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AAC8A-1ECF-9B72-B4B4-A6609B81B3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A4BB0-5B0C-DBC6-4F83-EA07DE43ED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20855-710F-9194-5DC2-144EFC00B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772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  <p:sldLayoutId id="2147483977" r:id="rId2"/>
    <p:sldLayoutId id="2147483978" r:id="rId3"/>
    <p:sldLayoutId id="2147483979" r:id="rId4"/>
    <p:sldLayoutId id="2147483980" r:id="rId5"/>
    <p:sldLayoutId id="2147483981" r:id="rId6"/>
    <p:sldLayoutId id="2147483982" r:id="rId7"/>
    <p:sldLayoutId id="2147483983" r:id="rId8"/>
    <p:sldLayoutId id="2147483984" r:id="rId9"/>
    <p:sldLayoutId id="2147483985" r:id="rId10"/>
    <p:sldLayoutId id="214748398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783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8" r:id="rId1"/>
    <p:sldLayoutId id="2147483989" r:id="rId2"/>
    <p:sldLayoutId id="2147483990" r:id="rId3"/>
    <p:sldLayoutId id="2147483991" r:id="rId4"/>
    <p:sldLayoutId id="2147483992" r:id="rId5"/>
    <p:sldLayoutId id="2147483993" r:id="rId6"/>
    <p:sldLayoutId id="2147483994" r:id="rId7"/>
    <p:sldLayoutId id="2147483995" r:id="rId8"/>
    <p:sldLayoutId id="2147483996" r:id="rId9"/>
    <p:sldLayoutId id="2147483997" r:id="rId10"/>
    <p:sldLayoutId id="2147483998" r:id="rId11"/>
    <p:sldLayoutId id="2147483999" r:id="rId12"/>
    <p:sldLayoutId id="2147484000" r:id="rId13"/>
    <p:sldLayoutId id="2147484001" r:id="rId14"/>
    <p:sldLayoutId id="2147484002" r:id="rId15"/>
    <p:sldLayoutId id="214748400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D477973-EE71-4F2D-8823-AB50F72F925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785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1" r:id="rId1"/>
    <p:sldLayoutId id="2147484132" r:id="rId2"/>
    <p:sldLayoutId id="2147484133" r:id="rId3"/>
    <p:sldLayoutId id="2147484134" r:id="rId4"/>
    <p:sldLayoutId id="2147484135" r:id="rId5"/>
    <p:sldLayoutId id="2147484136" r:id="rId6"/>
    <p:sldLayoutId id="2147484137" r:id="rId7"/>
    <p:sldLayoutId id="2147484138" r:id="rId8"/>
    <p:sldLayoutId id="2147484139" r:id="rId9"/>
    <p:sldLayoutId id="2147484140" r:id="rId10"/>
    <p:sldLayoutId id="214748414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im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0D104-D900-21A0-36F4-9F3896309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2826" y="284163"/>
            <a:ext cx="9144000" cy="1316037"/>
          </a:xfrm>
        </p:spPr>
        <p:txBody>
          <a:bodyPr>
            <a:normAutofit fontScale="90000"/>
          </a:bodyPr>
          <a:lstStyle/>
          <a:p>
            <a:br>
              <a:rPr lang="en-US" sz="3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br>
              <a:rPr lang="en-US" sz="3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sz="2200" b="1">
                <a:latin typeface="Times New Roman"/>
              </a:rPr>
              <a:t>The National Degree College Bagepalli-561207</a:t>
            </a:r>
            <a:endParaRPr lang="en-US" sz="3600" b="1" dirty="0"/>
          </a:p>
          <a:p>
            <a:r>
              <a:rPr sz="2200" b="1">
                <a:latin typeface="Times New Roman"/>
              </a:rPr>
              <a:t>Department of Computer Science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281FAD-D09D-42D0-725D-7DDA6EC9AC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89471" y="1851896"/>
            <a:ext cx="9144000" cy="2769266"/>
          </a:xfrm>
        </p:spPr>
        <p:txBody>
          <a:bodyPr>
            <a:normAutofit/>
          </a:bodyPr>
          <a:lstStyle/>
          <a:p>
            <a:r>
              <a:rPr sz="1800" dirty="0">
                <a:latin typeface="Times New Roman"/>
              </a:rPr>
              <a:t>A Technical Project Report</a:t>
            </a:r>
          </a:p>
          <a:p>
            <a:r>
              <a:rPr sz="1800" dirty="0">
                <a:latin typeface="Times New Roman"/>
              </a:rPr>
              <a:t>On</a:t>
            </a:r>
          </a:p>
          <a:p>
            <a:r>
              <a:rPr sz="1800" dirty="0">
                <a:latin typeface="Times New Roman"/>
              </a:rPr>
              <a:t>"</a:t>
            </a:r>
            <a:r>
              <a:rPr sz="1800" b="1" dirty="0">
                <a:solidFill>
                  <a:schemeClr val="accent2"/>
                </a:solidFill>
                <a:latin typeface="Times New Roman"/>
              </a:rPr>
              <a:t>An Intelligent Student Performance Prediction Using ML</a:t>
            </a:r>
            <a:r>
              <a:rPr sz="1800" dirty="0">
                <a:latin typeface="Times New Roman"/>
              </a:rPr>
              <a:t>"</a:t>
            </a:r>
          </a:p>
          <a:p>
            <a:r>
              <a:rPr sz="1800" dirty="0">
                <a:latin typeface="Times New Roman"/>
              </a:rPr>
              <a:t>Submitted in partial fulfilment of the requirement for the award of the degree of</a:t>
            </a:r>
          </a:p>
          <a:p>
            <a:r>
              <a:rPr sz="1800" dirty="0">
                <a:solidFill>
                  <a:schemeClr val="accent2">
                    <a:lumMod val="75000"/>
                  </a:schemeClr>
                </a:solidFill>
                <a:latin typeface="Times New Roman"/>
              </a:rPr>
              <a:t>Bachelor Of Computer Applications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0C99AE-39C5-1F26-BA7D-9FEAC733E337}"/>
              </a:ext>
            </a:extLst>
          </p:cNvPr>
          <p:cNvSpPr txBox="1"/>
          <p:nvPr/>
        </p:nvSpPr>
        <p:spPr>
          <a:xfrm>
            <a:off x="84841" y="5191390"/>
            <a:ext cx="55243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sz="1400" b="1" u="sng" dirty="0">
                <a:solidFill>
                  <a:schemeClr val="accent1">
                    <a:lumMod val="75000"/>
                  </a:schemeClr>
                </a:solidFill>
                <a:latin typeface="Times New Roman"/>
              </a:rPr>
              <a:t>Submitted By</a:t>
            </a:r>
          </a:p>
          <a:p>
            <a:r>
              <a:rPr sz="1400" dirty="0">
                <a:latin typeface="Times New Roman"/>
              </a:rPr>
              <a:t>PRAJWAL   </a:t>
            </a:r>
            <a:r>
              <a:rPr lang="en-US" sz="1400" dirty="0">
                <a:latin typeface="Times New Roman"/>
              </a:rPr>
              <a:t>N</a:t>
            </a:r>
            <a:r>
              <a:rPr sz="1400" dirty="0">
                <a:latin typeface="Times New Roman"/>
              </a:rPr>
              <a:t>         </a:t>
            </a:r>
            <a:r>
              <a:rPr lang="en-US" sz="1400" dirty="0">
                <a:latin typeface="Times New Roman"/>
              </a:rPr>
              <a:t>  (U19CK23S0033</a:t>
            </a:r>
            <a:r>
              <a:rPr sz="1400" dirty="0">
                <a:latin typeface="Times New Roman"/>
              </a:rPr>
              <a:t>)</a:t>
            </a:r>
          </a:p>
          <a:p>
            <a:r>
              <a:rPr sz="1400" dirty="0">
                <a:latin typeface="Times New Roman"/>
              </a:rPr>
              <a:t>VARADARAJU        (U</a:t>
            </a:r>
            <a:r>
              <a:rPr lang="en-US" sz="1400" dirty="0">
                <a:latin typeface="Times New Roman"/>
              </a:rPr>
              <a:t>19CK23S0123</a:t>
            </a:r>
            <a:r>
              <a:rPr sz="1400" dirty="0">
                <a:latin typeface="Times New Roman"/>
              </a:rPr>
              <a:t>)</a:t>
            </a:r>
          </a:p>
          <a:p>
            <a:r>
              <a:rPr sz="1400" dirty="0">
                <a:latin typeface="Times New Roman"/>
              </a:rPr>
              <a:t>GIRISHA </a:t>
            </a:r>
            <a:r>
              <a:rPr lang="en-US" sz="1400" dirty="0">
                <a:latin typeface="Times New Roman"/>
              </a:rPr>
              <a:t> </a:t>
            </a:r>
            <a:r>
              <a:rPr sz="1400" dirty="0">
                <a:latin typeface="Times New Roman"/>
              </a:rPr>
              <a:t>A           </a:t>
            </a:r>
            <a:r>
              <a:rPr lang="en-US" sz="1400" dirty="0">
                <a:latin typeface="Times New Roman"/>
              </a:rPr>
              <a:t>  </a:t>
            </a:r>
            <a:r>
              <a:rPr sz="1400" dirty="0">
                <a:latin typeface="Times New Roman"/>
              </a:rPr>
              <a:t> (U</a:t>
            </a:r>
            <a:r>
              <a:rPr lang="en-US" sz="1400" dirty="0">
                <a:latin typeface="Times New Roman"/>
              </a:rPr>
              <a:t>19CK23S0076</a:t>
            </a:r>
            <a:r>
              <a:rPr sz="1400" dirty="0">
                <a:latin typeface="Times New Roman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FF9697-110C-188D-18C9-01B34B2F5D2D}"/>
              </a:ext>
            </a:extLst>
          </p:cNvPr>
          <p:cNvSpPr txBox="1"/>
          <p:nvPr/>
        </p:nvSpPr>
        <p:spPr>
          <a:xfrm>
            <a:off x="7835481" y="5353741"/>
            <a:ext cx="34904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400" b="1" u="sng" dirty="0">
                <a:solidFill>
                  <a:schemeClr val="accent1">
                    <a:lumMod val="75000"/>
                  </a:schemeClr>
                </a:solidFill>
                <a:latin typeface="Times New Roman"/>
              </a:rPr>
              <a:t>Under the guidance of</a:t>
            </a:r>
          </a:p>
          <a:p>
            <a:r>
              <a:rPr lang="en-US" sz="1400" dirty="0">
                <a:latin typeface="Times New Roman"/>
              </a:rPr>
              <a:t>	</a:t>
            </a:r>
            <a:r>
              <a:rPr sz="1400" dirty="0">
                <a:latin typeface="Times New Roman"/>
              </a:rPr>
              <a:t>Mr. [Guide Name]</a:t>
            </a:r>
          </a:p>
          <a:p>
            <a:r>
              <a:rPr lang="en-US" sz="1400" dirty="0">
                <a:latin typeface="Times New Roman"/>
              </a:rPr>
              <a:t>	</a:t>
            </a:r>
            <a:r>
              <a:rPr sz="1400" dirty="0">
                <a:latin typeface="Times New Roman"/>
              </a:rPr>
              <a:t>Assistant Professor,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05B6F4-CE75-4D6B-A814-3DFFDCE07608}"/>
              </a:ext>
            </a:extLst>
          </p:cNvPr>
          <p:cNvSpPr txBox="1"/>
          <p:nvPr/>
        </p:nvSpPr>
        <p:spPr>
          <a:xfrm>
            <a:off x="3564687" y="5399908"/>
            <a:ext cx="4591665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300" b="1" u="sng" dirty="0">
                <a:solidFill>
                  <a:schemeClr val="accent1">
                    <a:lumMod val="75000"/>
                  </a:schemeClr>
                </a:solidFill>
                <a:latin typeface="Times New Roman"/>
              </a:rPr>
              <a:t>Head of the Department</a:t>
            </a:r>
          </a:p>
          <a:p>
            <a:r>
              <a:rPr lang="en-US" sz="1300" dirty="0">
                <a:latin typeface="Times New Roman"/>
              </a:rPr>
              <a:t>	</a:t>
            </a:r>
            <a:r>
              <a:rPr sz="1300" dirty="0">
                <a:latin typeface="Times New Roman"/>
              </a:rPr>
              <a:t>Prof. [HOD Name], B.E., </a:t>
            </a:r>
            <a:r>
              <a:rPr sz="1300" dirty="0" err="1">
                <a:latin typeface="Times New Roman"/>
              </a:rPr>
              <a:t>M.Tech</a:t>
            </a:r>
            <a:r>
              <a:rPr sz="1300" dirty="0">
                <a:latin typeface="Times New Roman"/>
              </a:rPr>
              <a:t>., (</a:t>
            </a:r>
            <a:r>
              <a:rPr sz="1300" dirty="0" err="1">
                <a:latin typeface="Times New Roman"/>
              </a:rPr>
              <a:t>Ph.D</a:t>
            </a:r>
            <a:r>
              <a:rPr sz="1300" dirty="0">
                <a:latin typeface="Times New Roman"/>
              </a:rPr>
              <a:t>)</a:t>
            </a:r>
          </a:p>
          <a:p>
            <a:r>
              <a:rPr lang="en-US" sz="1300" dirty="0">
                <a:latin typeface="Times New Roman"/>
              </a:rPr>
              <a:t>	</a:t>
            </a:r>
            <a:r>
              <a:rPr sz="1300" dirty="0">
                <a:latin typeface="Times New Roman"/>
              </a:rPr>
              <a:t>Head, Department of Computer Scien</a:t>
            </a:r>
            <a:r>
              <a:rPr lang="en-US" sz="1300" dirty="0">
                <a:latin typeface="Times New Roman"/>
              </a:rPr>
              <a:t>ce</a:t>
            </a:r>
            <a:endParaRPr sz="1300" dirty="0">
              <a:latin typeface="Times New Roman"/>
            </a:endParaRPr>
          </a:p>
        </p:txBody>
      </p:sp>
      <p:pic>
        <p:nvPicPr>
          <p:cNvPr id="7" name="Picture 2" descr="National College Basavanagudi » Vision &amp; Mission">
            <a:extLst>
              <a:ext uri="{FF2B5EF4-FFF2-40B4-BE49-F238E27FC236}">
                <a16:creationId xmlns:a16="http://schemas.microsoft.com/office/drawing/2014/main" id="{AAE7FCB2-50D3-3D87-9D20-DDC51AE24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754" y="0"/>
            <a:ext cx="1987652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hivaprasad Khened, Advisor, CSMVS, Mumbai. Former Director, Nehru Science  Centre, Mumbai: Centenary Tribute to Padma Bhushan Dr. H. Narasimhaiah (6  June 1920 — 31 January 2005) : An Embodiment of Scientific Temper.">
            <a:extLst>
              <a:ext uri="{FF2B5EF4-FFF2-40B4-BE49-F238E27FC236}">
                <a16:creationId xmlns:a16="http://schemas.microsoft.com/office/drawing/2014/main" id="{CB8C02EE-0BCD-7BB1-8708-74C37261C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2838" y="167148"/>
            <a:ext cx="1645060" cy="2192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1093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73831-F1A8-6C29-272D-1384EE93B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>
                <a:latin typeface="Times New Roman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82F7C-2E8D-20B9-15DB-BAC38AC41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sz="1800">
                <a:latin typeface="Times New Roman"/>
              </a:rPr>
              <a:t>1. Introduction</a:t>
            </a:r>
          </a:p>
          <a:p>
            <a:r>
              <a:rPr sz="1800">
                <a:latin typeface="Times New Roman"/>
              </a:rPr>
              <a:t>2. Problem Statement</a:t>
            </a:r>
          </a:p>
          <a:p>
            <a:r>
              <a:rPr sz="1800">
                <a:latin typeface="Times New Roman"/>
              </a:rPr>
              <a:t>3. Objectives</a:t>
            </a:r>
          </a:p>
          <a:p>
            <a:r>
              <a:rPr sz="1800">
                <a:latin typeface="Times New Roman"/>
              </a:rPr>
              <a:t>4. Proposed Methodology</a:t>
            </a:r>
          </a:p>
          <a:p>
            <a:r>
              <a:rPr sz="1800">
                <a:latin typeface="Times New Roman"/>
              </a:rPr>
              <a:t>5. Dataset &amp; Features</a:t>
            </a:r>
          </a:p>
          <a:p>
            <a:r>
              <a:rPr sz="1800">
                <a:latin typeface="Times New Roman"/>
              </a:rPr>
              <a:t>6. ML Algorithms &amp; Results</a:t>
            </a:r>
          </a:p>
          <a:p>
            <a:r>
              <a:rPr sz="1800">
                <a:latin typeface="Times New Roman"/>
              </a:rPr>
              <a:t>7. System Architecture</a:t>
            </a:r>
          </a:p>
          <a:p>
            <a:r>
              <a:rPr sz="1800">
                <a:latin typeface="Times New Roman"/>
              </a:rPr>
              <a:t>8. Web Application Features</a:t>
            </a:r>
          </a:p>
          <a:p>
            <a:r>
              <a:rPr sz="1800">
                <a:latin typeface="Times New Roman"/>
              </a:rPr>
              <a:t>9. Visualisations &amp; Charts</a:t>
            </a:r>
          </a:p>
          <a:p>
            <a:r>
              <a:rPr sz="1800">
                <a:latin typeface="Times New Roman"/>
              </a:rPr>
              <a:t>10. Conclusion</a:t>
            </a:r>
          </a:p>
          <a:p>
            <a:r>
              <a:rPr sz="1800">
                <a:latin typeface="Times New Roman"/>
              </a:rPr>
              <a:t>11. Future Enhancement</a:t>
            </a:r>
          </a:p>
          <a:p>
            <a:r>
              <a:rPr sz="1800">
                <a:latin typeface="Times New Roman"/>
              </a:rPr>
              <a:t>12. References</a:t>
            </a:r>
          </a:p>
        </p:txBody>
      </p:sp>
    </p:spTree>
    <p:extLst>
      <p:ext uri="{BB962C8B-B14F-4D97-AF65-F5344CB8AC3E}">
        <p14:creationId xmlns:p14="http://schemas.microsoft.com/office/powerpoint/2010/main" val="3280524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C63DA-3A39-C269-5E65-8A60216CE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FF0000"/>
                </a:solidFill>
              </a:rPr>
            </a:br>
            <a:br>
              <a:rPr lang="en-US" b="1" dirty="0"/>
            </a:br>
            <a:r>
              <a:rPr sz="3200" b="1">
                <a:latin typeface="Times New Roman"/>
              </a:rPr>
              <a:t>Introduction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1363355" y="2183423"/>
            <a:ext cx="1038371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600">
                <a:latin typeface="Times New Roman"/>
              </a:rPr>
              <a:t>An Intelligent Student Performance Prediction System offers a data-driven digital solution to identify at-risk students early. Using Machine Learning algorithms such as Logistic Regression, SVM, Random Forest, and XGBoost, the system predicts whether a student will PASS or FAIL based on academic, social, and personal attributes. It empowers educators with actionable insights and personalised feedback for every student.</a:t>
            </a:r>
          </a:p>
        </p:txBody>
      </p:sp>
    </p:spTree>
    <p:extLst>
      <p:ext uri="{BB962C8B-B14F-4D97-AF65-F5344CB8AC3E}">
        <p14:creationId xmlns:p14="http://schemas.microsoft.com/office/powerpoint/2010/main" val="1604196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3FBF10-BF42-CE9D-2EA3-C2F6785D5CD9}"/>
              </a:ext>
            </a:extLst>
          </p:cNvPr>
          <p:cNvSpPr txBox="1"/>
          <p:nvPr/>
        </p:nvSpPr>
        <p:spPr>
          <a:xfrm>
            <a:off x="1459522" y="1325880"/>
            <a:ext cx="84540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500">
                <a:latin typeface="Times New Roman"/>
              </a:rPr>
              <a:t>The importance of an intelligent prediction system has increased in the era of data-driven education, where student outcomes can be analysed using ML models trained on real-world lifestyle and academic datasets to support timely interventions.</a:t>
            </a:r>
            <a:endParaRPr lang="en-IN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59523" y="2604591"/>
            <a:ext cx="921434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500">
                <a:latin typeface="Times New Roman"/>
              </a:rPr>
              <a:t>Educational institutions today handle vast amounts of data related to students — including attendance, study habits, family background, and academic performance. Traditionally, identifying at-risk students has been a manual and subjective process, leading to delayed interventions. Our ML-powered Flask web application addresses this gap by providing instant, automated, and explainable predictions for each student.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4327" y="4074094"/>
            <a:ext cx="3925126" cy="25871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522" y="4074094"/>
            <a:ext cx="4224759" cy="258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445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E942EC-9B26-C35C-917F-AC75671A7C4B}"/>
              </a:ext>
            </a:extLst>
          </p:cNvPr>
          <p:cNvSpPr txBox="1"/>
          <p:nvPr/>
        </p:nvSpPr>
        <p:spPr>
          <a:xfrm>
            <a:off x="296308" y="776698"/>
            <a:ext cx="1132159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E942EC-9B26-C35C-917F-AC75671A7C4B}"/>
              </a:ext>
            </a:extLst>
          </p:cNvPr>
          <p:cNvSpPr txBox="1"/>
          <p:nvPr/>
        </p:nvSpPr>
        <p:spPr>
          <a:xfrm>
            <a:off x="578734" y="1129152"/>
            <a:ext cx="113439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500">
                <a:latin typeface="Times New Roman"/>
              </a:rPr>
              <a:t>To predict student academic outcomes: The primary goal is to accurately predict whether a student will PASS or FAIL using ML models trained on real student data.</a:t>
            </a:r>
            <a:endParaRPr lang="en-IN" b="1" dirty="0"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8734" y="2047631"/>
            <a:ext cx="1096882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500">
                <a:latin typeface="Times New Roman"/>
              </a:rPr>
              <a:t>To ensure efficient ML model selection: The system automatically selects the best performing algorithm using StratifiedKFold cross-validation for robust and fair evaluation.</a:t>
            </a:r>
            <a:endParaRPr lang="en-IN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6492" y="2945034"/>
            <a:ext cx="1089106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500">
                <a:latin typeface="Times New Roman"/>
              </a:rPr>
              <a:t>To support decision-making: The system provides teachers and administrators with comprehensive ML-generated insights, feature importance charts, and SHAP explanations to support informed, data-driven decisions about at-risk students.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6492" y="4119436"/>
            <a:ext cx="1064276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500">
                <a:latin typeface="Times New Roman"/>
              </a:rPr>
              <a:t>To increase transparency with SHAP: By providing SHAP (SHapley Additive exPlanations) values, the system explains each prediction so stakeholders understand the key factors influencing every student's result.</a:t>
            </a:r>
          </a:p>
        </p:txBody>
      </p:sp>
      <p:sp>
        <p:nvSpPr>
          <p:cNvPr id="10" name="Rectangle 9"/>
          <p:cNvSpPr/>
          <p:nvPr/>
        </p:nvSpPr>
        <p:spPr>
          <a:xfrm rot="10800000" flipV="1">
            <a:off x="578733" y="5067710"/>
            <a:ext cx="1056600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500">
                <a:latin typeface="Times New Roman"/>
              </a:rPr>
              <a:t>To save time and automate reporting: The system automates prediction, chart generation, and report creation — producing downloadable CSV reports, 10+ visualisation charts, and personalised improvement tips for each student.</a:t>
            </a:r>
          </a:p>
        </p:txBody>
      </p:sp>
    </p:spTree>
    <p:extLst>
      <p:ext uri="{BB962C8B-B14F-4D97-AF65-F5344CB8AC3E}">
        <p14:creationId xmlns:p14="http://schemas.microsoft.com/office/powerpoint/2010/main" val="2666926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87A18-DF48-77AF-CF53-E2B2738AB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592" y="-169924"/>
            <a:ext cx="10515600" cy="1325563"/>
          </a:xfrm>
        </p:spPr>
        <p:txBody>
          <a:bodyPr>
            <a:normAutofit/>
          </a:bodyPr>
          <a:lstStyle/>
          <a:p>
            <a:r>
              <a:rPr sz="3200" b="1">
                <a:latin typeface="Times New Roman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2592" y="1272870"/>
            <a:ext cx="1146516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500">
                <a:latin typeface="Times New Roman"/>
              </a:rPr>
              <a:t>Educational institutions face significant challenges in identifying students at risk of failure.</a:t>
            </a:r>
          </a:p>
          <a:p>
            <a:endParaRPr sz="1500">
              <a:latin typeface="Times New Roman"/>
            </a:endParaRPr>
          </a:p>
          <a:p>
            <a:r>
              <a:rPr sz="1500">
                <a:latin typeface="Times New Roman"/>
              </a:rPr>
              <a:t>Manual Assessment: Identifying struggling students is subjective and time-consuming for teachers.</a:t>
            </a:r>
          </a:p>
          <a:p>
            <a:endParaRPr sz="1500">
              <a:latin typeface="Times New Roman"/>
            </a:endParaRPr>
          </a:p>
          <a:p>
            <a:r>
              <a:rPr sz="1500">
                <a:latin typeface="Times New Roman"/>
              </a:rPr>
              <a:t>Delayed Intervention: Without early warning systems, teachers only notice failure after it occurs.</a:t>
            </a:r>
          </a:p>
          <a:p>
            <a:endParaRPr sz="1500">
              <a:latin typeface="Times New Roman"/>
            </a:endParaRPr>
          </a:p>
          <a:p>
            <a:r>
              <a:rPr sz="1500">
                <a:latin typeface="Times New Roman"/>
              </a:rPr>
              <a:t>Data Disorganization: Student records — grades, attendance, social factors — are stored in separate systems, making holistic analysis difficult.</a:t>
            </a:r>
          </a:p>
        </p:txBody>
      </p:sp>
      <p:sp>
        <p:nvSpPr>
          <p:cNvPr id="3" name="Rectangle 2"/>
          <p:cNvSpPr/>
          <p:nvPr/>
        </p:nvSpPr>
        <p:spPr>
          <a:xfrm>
            <a:off x="328247" y="4806421"/>
            <a:ext cx="1140951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500">
                <a:latin typeface="Times New Roman"/>
              </a:rPr>
              <a:t>Limited Insights: Without ML-driven analytics, schools cannot identify patterns across multiple student features like study time, family support, and past failures.</a:t>
            </a:r>
            <a:endParaRPr lang="en-US" b="1" dirty="0">
              <a:latin typeface="Bodoni MT" panose="02070603080606020203" pitchFamily="18" charset="0"/>
            </a:endParaRPr>
          </a:p>
          <a:p>
            <a:endParaRPr lang="en-US" b="1" dirty="0">
              <a:latin typeface="Bodoni MT" panose="02070603080606020203" pitchFamily="18" charset="0"/>
            </a:endParaRPr>
          </a:p>
          <a:p>
            <a:r>
              <a:rPr sz="1500">
                <a:latin typeface="Times New Roman"/>
              </a:rPr>
              <a:t>Lack of Personalised Feedback: Each student has unique risk factors, but current systems cannot generate personalised, actionable improvement tips at scale.</a:t>
            </a:r>
          </a:p>
        </p:txBody>
      </p:sp>
    </p:spTree>
    <p:extLst>
      <p:ext uri="{BB962C8B-B14F-4D97-AF65-F5344CB8AC3E}">
        <p14:creationId xmlns:p14="http://schemas.microsoft.com/office/powerpoint/2010/main" val="1736676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E1D934-1715-3E7B-FF7C-51AD48517C94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4EDD8A-13CD-F0E0-A10C-C705ED29AA75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E6529A-18A6-3FAC-6192-98F858E09635}"/>
              </a:ext>
            </a:extLst>
          </p:cNvPr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5F9AD5-17C3-AA68-5A0F-61288508F3C6}"/>
              </a:ext>
            </a:extLst>
          </p:cNvPr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B43A09-9D72-6FC2-CBF0-DEE11212A40D}"/>
              </a:ext>
            </a:extLst>
          </p:cNvPr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D28F51-E9CB-B08B-E438-DF213596A341}"/>
              </a:ext>
            </a:extLst>
          </p:cNvPr>
          <p:cNvSpPr txBox="1"/>
          <p:nvPr/>
        </p:nvSpPr>
        <p:spPr>
          <a:xfrm>
            <a:off x="182880" y="109728"/>
            <a:ext cx="11795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imes New Roman"/>
              </a:rPr>
              <a:t>System Architecture &amp; Data Flow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275B7F-CAB7-FFFF-F674-825A530DB046}"/>
              </a:ext>
            </a:extLst>
          </p:cNvPr>
          <p:cNvSpPr txBox="1"/>
          <p:nvPr/>
        </p:nvSpPr>
        <p:spPr>
          <a:xfrm>
            <a:off x="182880" y="658368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8"/>
                </a:solidFill>
                <a:latin typeface="Times New Roman"/>
              </a:rPr>
              <a:t>End-to-end pipeline: from raw student data to intelligent predictions and reports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C6B6C9-7138-AEB5-D471-076C6F6C3783}"/>
              </a:ext>
            </a:extLst>
          </p:cNvPr>
          <p:cNvSpPr/>
          <p:nvPr/>
        </p:nvSpPr>
        <p:spPr>
          <a:xfrm>
            <a:off x="201168" y="1078992"/>
            <a:ext cx="1755648" cy="338328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247459-EFF0-0F1E-E5FB-038803844DD7}"/>
              </a:ext>
            </a:extLst>
          </p:cNvPr>
          <p:cNvSpPr/>
          <p:nvPr/>
        </p:nvSpPr>
        <p:spPr>
          <a:xfrm>
            <a:off x="201168" y="1078992"/>
            <a:ext cx="1755648" cy="6400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66C1EC-EBCD-0BAD-F889-572EA2AFE96C}"/>
              </a:ext>
            </a:extLst>
          </p:cNvPr>
          <p:cNvSpPr/>
          <p:nvPr/>
        </p:nvSpPr>
        <p:spPr>
          <a:xfrm>
            <a:off x="1572768" y="1133856"/>
            <a:ext cx="329184" cy="32918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55A8D7-E3B9-D81C-EFF1-40A7C17F2167}"/>
              </a:ext>
            </a:extLst>
          </p:cNvPr>
          <p:cNvSpPr txBox="1"/>
          <p:nvPr/>
        </p:nvSpPr>
        <p:spPr>
          <a:xfrm>
            <a:off x="1572768" y="113385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Times New Roman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18C5ED-9AED-E7BF-0685-6708C8267D8B}"/>
              </a:ext>
            </a:extLst>
          </p:cNvPr>
          <p:cNvSpPr txBox="1"/>
          <p:nvPr/>
        </p:nvSpPr>
        <p:spPr>
          <a:xfrm>
            <a:off x="256032" y="15544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  <a:latin typeface="Times New Roman"/>
              </a:rPr>
              <a:t>Dataset</a:t>
            </a:r>
          </a:p>
          <a:p>
            <a:pPr algn="ctr"/>
            <a:r>
              <a:rPr sz="1300" b="1" i="0">
                <a:solidFill>
                  <a:srgbClr val="00D4FF"/>
                </a:solidFill>
                <a:latin typeface="Times New Roman"/>
              </a:rPr>
              <a:t>Input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6C1D4B-FCDF-BA68-14BD-BA1569DA7764}"/>
              </a:ext>
            </a:extLst>
          </p:cNvPr>
          <p:cNvSpPr txBox="1"/>
          <p:nvPr/>
        </p:nvSpPr>
        <p:spPr>
          <a:xfrm>
            <a:off x="256032" y="2450592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CSV / Excel</a:t>
            </a:r>
          </a:p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upload or</a:t>
            </a:r>
          </a:p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default dataset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E73C90-AE02-9C7A-7A73-98F926CE4D36}"/>
              </a:ext>
            </a:extLst>
          </p:cNvPr>
          <p:cNvSpPr txBox="1"/>
          <p:nvPr/>
        </p:nvSpPr>
        <p:spPr>
          <a:xfrm>
            <a:off x="1965960" y="2542032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FF"/>
                </a:solidFill>
                <a:latin typeface="Times New Roman"/>
              </a:rPr>
              <a:t>▶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5A35F4-7C67-A43A-F0BE-3A49BD926D51}"/>
              </a:ext>
            </a:extLst>
          </p:cNvPr>
          <p:cNvSpPr/>
          <p:nvPr/>
        </p:nvSpPr>
        <p:spPr>
          <a:xfrm>
            <a:off x="2066544" y="1078992"/>
            <a:ext cx="1755648" cy="338328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E0C16D-02EC-FED4-132D-304E9DD1CAC7}"/>
              </a:ext>
            </a:extLst>
          </p:cNvPr>
          <p:cNvSpPr/>
          <p:nvPr/>
        </p:nvSpPr>
        <p:spPr>
          <a:xfrm>
            <a:off x="2066544" y="1078992"/>
            <a:ext cx="1755648" cy="640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BE62FF-3CC3-335F-CE50-602A8C76F9C9}"/>
              </a:ext>
            </a:extLst>
          </p:cNvPr>
          <p:cNvSpPr/>
          <p:nvPr/>
        </p:nvSpPr>
        <p:spPr>
          <a:xfrm>
            <a:off x="3438144" y="1133856"/>
            <a:ext cx="329184" cy="3291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794370-90F7-9D01-72B9-C70DF964CB10}"/>
              </a:ext>
            </a:extLst>
          </p:cNvPr>
          <p:cNvSpPr txBox="1"/>
          <p:nvPr/>
        </p:nvSpPr>
        <p:spPr>
          <a:xfrm>
            <a:off x="3438144" y="113385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Times New Roman"/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76F31B-E961-A84F-9457-4F70B53ECA92}"/>
              </a:ext>
            </a:extLst>
          </p:cNvPr>
          <p:cNvSpPr txBox="1"/>
          <p:nvPr/>
        </p:nvSpPr>
        <p:spPr>
          <a:xfrm>
            <a:off x="2121408" y="15544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C3AED"/>
                </a:solidFill>
                <a:latin typeface="Times New Roman"/>
              </a:rPr>
              <a:t>Pre-</a:t>
            </a:r>
          </a:p>
          <a:p>
            <a:pPr algn="ctr"/>
            <a:r>
              <a:rPr sz="1300" b="1" i="0">
                <a:solidFill>
                  <a:srgbClr val="7C3AED"/>
                </a:solidFill>
                <a:latin typeface="Times New Roman"/>
              </a:rPr>
              <a:t>processing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3CB4C0-5DB3-76AA-A1AD-F126D5317283}"/>
              </a:ext>
            </a:extLst>
          </p:cNvPr>
          <p:cNvSpPr txBox="1"/>
          <p:nvPr/>
        </p:nvSpPr>
        <p:spPr>
          <a:xfrm>
            <a:off x="2121408" y="2450592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OneHotEncode</a:t>
            </a:r>
          </a:p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+ numeric</a:t>
            </a:r>
          </a:p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passthrough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935241-CDAA-C1F2-D77C-7CB4E7039DB6}"/>
              </a:ext>
            </a:extLst>
          </p:cNvPr>
          <p:cNvSpPr txBox="1"/>
          <p:nvPr/>
        </p:nvSpPr>
        <p:spPr>
          <a:xfrm>
            <a:off x="3831336" y="2542032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FF"/>
                </a:solidFill>
                <a:latin typeface="Times New Roman"/>
              </a:rPr>
              <a:t>▶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B0A1FD1-AFED-B0D7-5DED-0AD5106F0C26}"/>
              </a:ext>
            </a:extLst>
          </p:cNvPr>
          <p:cNvSpPr/>
          <p:nvPr/>
        </p:nvSpPr>
        <p:spPr>
          <a:xfrm>
            <a:off x="3931920" y="1078992"/>
            <a:ext cx="1755648" cy="338328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247989-43E5-9788-8B25-25E61D84DEFA}"/>
              </a:ext>
            </a:extLst>
          </p:cNvPr>
          <p:cNvSpPr/>
          <p:nvPr/>
        </p:nvSpPr>
        <p:spPr>
          <a:xfrm>
            <a:off x="3931920" y="1078992"/>
            <a:ext cx="1755648" cy="6400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B269D07-A439-8654-F2C4-4DCE9086AD3C}"/>
              </a:ext>
            </a:extLst>
          </p:cNvPr>
          <p:cNvSpPr/>
          <p:nvPr/>
        </p:nvSpPr>
        <p:spPr>
          <a:xfrm>
            <a:off x="5303520" y="1133856"/>
            <a:ext cx="329184" cy="329184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B2C4DB-7C3A-0C1C-9744-7B6131B189C8}"/>
              </a:ext>
            </a:extLst>
          </p:cNvPr>
          <p:cNvSpPr txBox="1"/>
          <p:nvPr/>
        </p:nvSpPr>
        <p:spPr>
          <a:xfrm>
            <a:off x="5303520" y="113385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Times New Roman"/>
              </a:rPr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A1DCC0-F636-B472-A62D-C713FA03F8DE}"/>
              </a:ext>
            </a:extLst>
          </p:cNvPr>
          <p:cNvSpPr txBox="1"/>
          <p:nvPr/>
        </p:nvSpPr>
        <p:spPr>
          <a:xfrm>
            <a:off x="3986784" y="15544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E676"/>
                </a:solidFill>
                <a:latin typeface="Times New Roman"/>
              </a:rPr>
              <a:t>ML Model</a:t>
            </a:r>
          </a:p>
          <a:p>
            <a:pPr algn="ctr"/>
            <a:r>
              <a:rPr sz="1300" b="1" i="0">
                <a:solidFill>
                  <a:srgbClr val="00E676"/>
                </a:solidFill>
                <a:latin typeface="Times New Roman"/>
              </a:rPr>
              <a:t>Training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2062FB-88D7-2882-3C81-C8EE9381154B}"/>
              </a:ext>
            </a:extLst>
          </p:cNvPr>
          <p:cNvSpPr txBox="1"/>
          <p:nvPr/>
        </p:nvSpPr>
        <p:spPr>
          <a:xfrm>
            <a:off x="3986784" y="2450592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5 algorithms</a:t>
            </a:r>
          </a:p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trained — best</a:t>
            </a:r>
          </a:p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chosen by CV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E854A9-C42B-C04C-21D9-DEA6C841DD1E}"/>
              </a:ext>
            </a:extLst>
          </p:cNvPr>
          <p:cNvSpPr txBox="1"/>
          <p:nvPr/>
        </p:nvSpPr>
        <p:spPr>
          <a:xfrm>
            <a:off x="5696712" y="2542032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FF"/>
                </a:solidFill>
                <a:latin typeface="Times New Roman"/>
              </a:rPr>
              <a:t>▶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3CE4005-8C31-3361-22A0-73D2B158D174}"/>
              </a:ext>
            </a:extLst>
          </p:cNvPr>
          <p:cNvSpPr/>
          <p:nvPr/>
        </p:nvSpPr>
        <p:spPr>
          <a:xfrm>
            <a:off x="5797296" y="1078992"/>
            <a:ext cx="1755648" cy="338328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8E58E90-CCA0-9B39-446E-7633D17028A6}"/>
              </a:ext>
            </a:extLst>
          </p:cNvPr>
          <p:cNvSpPr/>
          <p:nvPr/>
        </p:nvSpPr>
        <p:spPr>
          <a:xfrm>
            <a:off x="5797296" y="1078992"/>
            <a:ext cx="1755648" cy="64008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270B429-55B7-5265-D105-866530B7D99E}"/>
              </a:ext>
            </a:extLst>
          </p:cNvPr>
          <p:cNvSpPr/>
          <p:nvPr/>
        </p:nvSpPr>
        <p:spPr>
          <a:xfrm>
            <a:off x="7168896" y="1133856"/>
            <a:ext cx="329184" cy="32918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A89019-E618-BDB8-C363-20A3994E5D6D}"/>
              </a:ext>
            </a:extLst>
          </p:cNvPr>
          <p:cNvSpPr txBox="1"/>
          <p:nvPr/>
        </p:nvSpPr>
        <p:spPr>
          <a:xfrm>
            <a:off x="7168896" y="113385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Times New Roman"/>
              </a:rPr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CE4BA5-1BBA-C6D1-1108-DBE2623706CA}"/>
              </a:ext>
            </a:extLst>
          </p:cNvPr>
          <p:cNvSpPr txBox="1"/>
          <p:nvPr/>
        </p:nvSpPr>
        <p:spPr>
          <a:xfrm>
            <a:off x="5852160" y="15544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6B"/>
                </a:solidFill>
                <a:latin typeface="Times New Roman"/>
              </a:rPr>
              <a:t>Prediction</a:t>
            </a:r>
          </a:p>
          <a:p>
            <a:pPr algn="ctr"/>
            <a:r>
              <a:rPr sz="1300" b="1" i="0">
                <a:solidFill>
                  <a:srgbClr val="FF6B6B"/>
                </a:solidFill>
                <a:latin typeface="Times New Roman"/>
              </a:rPr>
              <a:t>Output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7A74B4A-394B-F123-FA22-9D89E4C8A07F}"/>
              </a:ext>
            </a:extLst>
          </p:cNvPr>
          <p:cNvSpPr txBox="1"/>
          <p:nvPr/>
        </p:nvSpPr>
        <p:spPr>
          <a:xfrm>
            <a:off x="5852160" y="2450592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Pass / Fail</a:t>
            </a:r>
          </a:p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+ Probability</a:t>
            </a:r>
          </a:p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per student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5F9BBE3-9710-F22C-138A-C9771129D7B7}"/>
              </a:ext>
            </a:extLst>
          </p:cNvPr>
          <p:cNvSpPr txBox="1"/>
          <p:nvPr/>
        </p:nvSpPr>
        <p:spPr>
          <a:xfrm>
            <a:off x="7562088" y="2542032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FF"/>
                </a:solidFill>
                <a:latin typeface="Times New Roman"/>
              </a:rPr>
              <a:t>▶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EFA10A1-2E09-C603-1AD2-2643D80269BF}"/>
              </a:ext>
            </a:extLst>
          </p:cNvPr>
          <p:cNvSpPr/>
          <p:nvPr/>
        </p:nvSpPr>
        <p:spPr>
          <a:xfrm>
            <a:off x="7662672" y="1078992"/>
            <a:ext cx="1755648" cy="338328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CB81386-E83F-69F0-DC45-CF9BD11AD5D0}"/>
              </a:ext>
            </a:extLst>
          </p:cNvPr>
          <p:cNvSpPr/>
          <p:nvPr/>
        </p:nvSpPr>
        <p:spPr>
          <a:xfrm>
            <a:off x="7662672" y="1078992"/>
            <a:ext cx="1755648" cy="64008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D3E3D10-FDDD-8D98-94B3-10F8F937EF0D}"/>
              </a:ext>
            </a:extLst>
          </p:cNvPr>
          <p:cNvSpPr/>
          <p:nvPr/>
        </p:nvSpPr>
        <p:spPr>
          <a:xfrm>
            <a:off x="9034272" y="1133856"/>
            <a:ext cx="329184" cy="329184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F1AFFF3-F335-9AD3-DAE7-A7A06CA7967C}"/>
              </a:ext>
            </a:extLst>
          </p:cNvPr>
          <p:cNvSpPr txBox="1"/>
          <p:nvPr/>
        </p:nvSpPr>
        <p:spPr>
          <a:xfrm>
            <a:off x="9034272" y="113385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Times New Roman"/>
              </a:rPr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1A90E8F-C9F9-9A65-C91B-0B7FEA36100B}"/>
              </a:ext>
            </a:extLst>
          </p:cNvPr>
          <p:cNvSpPr txBox="1"/>
          <p:nvPr/>
        </p:nvSpPr>
        <p:spPr>
          <a:xfrm>
            <a:off x="7717536" y="15544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  <a:latin typeface="Times New Roman"/>
              </a:rPr>
              <a:t>Visuals &amp;</a:t>
            </a:r>
          </a:p>
          <a:p>
            <a:pPr algn="ctr"/>
            <a:r>
              <a:rPr sz="1300" b="1" i="0">
                <a:solidFill>
                  <a:srgbClr val="FFD700"/>
                </a:solidFill>
                <a:latin typeface="Times New Roman"/>
              </a:rPr>
              <a:t>Charts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9CBDE9D-9B89-5525-C21B-AB8B41CC1510}"/>
              </a:ext>
            </a:extLst>
          </p:cNvPr>
          <p:cNvSpPr txBox="1"/>
          <p:nvPr/>
        </p:nvSpPr>
        <p:spPr>
          <a:xfrm>
            <a:off x="7717536" y="2450592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10 auto charts:</a:t>
            </a:r>
          </a:p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SHAP, heatmap,</a:t>
            </a:r>
          </a:p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confusion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099914-F20A-439C-F69D-9922E104C29F}"/>
              </a:ext>
            </a:extLst>
          </p:cNvPr>
          <p:cNvSpPr txBox="1"/>
          <p:nvPr/>
        </p:nvSpPr>
        <p:spPr>
          <a:xfrm>
            <a:off x="9427464" y="2542032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FF"/>
                </a:solidFill>
                <a:latin typeface="Times New Roman"/>
              </a:rPr>
              <a:t>▶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99E40BC-A6E6-FC0C-6B23-743D80286065}"/>
              </a:ext>
            </a:extLst>
          </p:cNvPr>
          <p:cNvSpPr/>
          <p:nvPr/>
        </p:nvSpPr>
        <p:spPr>
          <a:xfrm>
            <a:off x="9528048" y="1078992"/>
            <a:ext cx="1755648" cy="338328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8346598-1532-7947-3188-87E01B05B2DE}"/>
              </a:ext>
            </a:extLst>
          </p:cNvPr>
          <p:cNvSpPr/>
          <p:nvPr/>
        </p:nvSpPr>
        <p:spPr>
          <a:xfrm>
            <a:off x="9528048" y="1078992"/>
            <a:ext cx="1755648" cy="6400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AAF2D4D-87EE-4153-9C2B-6DA0995C0C1C}"/>
              </a:ext>
            </a:extLst>
          </p:cNvPr>
          <p:cNvSpPr/>
          <p:nvPr/>
        </p:nvSpPr>
        <p:spPr>
          <a:xfrm>
            <a:off x="10899648" y="1133856"/>
            <a:ext cx="329184" cy="32918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A42FC5B-57B1-D726-C2D0-90E21B6E0424}"/>
              </a:ext>
            </a:extLst>
          </p:cNvPr>
          <p:cNvSpPr txBox="1"/>
          <p:nvPr/>
        </p:nvSpPr>
        <p:spPr>
          <a:xfrm>
            <a:off x="10899648" y="113385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Times New Roman"/>
              </a:rPr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0FC8A5D-6DC9-53A0-A52B-D38BF5FEB29C}"/>
              </a:ext>
            </a:extLst>
          </p:cNvPr>
          <p:cNvSpPr txBox="1"/>
          <p:nvPr/>
        </p:nvSpPr>
        <p:spPr>
          <a:xfrm>
            <a:off x="9582912" y="15544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  <a:latin typeface="Times New Roman"/>
              </a:rPr>
              <a:t>Report &amp;</a:t>
            </a:r>
          </a:p>
          <a:p>
            <a:pPr algn="ctr"/>
            <a:r>
              <a:rPr sz="1300" b="1" i="0">
                <a:solidFill>
                  <a:srgbClr val="00D4FF"/>
                </a:solidFill>
                <a:latin typeface="Times New Roman"/>
              </a:rPr>
              <a:t>Export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A281397-97EF-829C-AC82-3698A572E3A9}"/>
              </a:ext>
            </a:extLst>
          </p:cNvPr>
          <p:cNvSpPr txBox="1"/>
          <p:nvPr/>
        </p:nvSpPr>
        <p:spPr>
          <a:xfrm>
            <a:off x="9582912" y="2450592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Personalised</a:t>
            </a:r>
          </a:p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tips + CSV</a:t>
            </a:r>
          </a:p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download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E6C8579-FCFC-3EFD-91ED-26EDA8E88A48}"/>
              </a:ext>
            </a:extLst>
          </p:cNvPr>
          <p:cNvSpPr/>
          <p:nvPr/>
        </p:nvSpPr>
        <p:spPr>
          <a:xfrm>
            <a:off x="201168" y="4617720"/>
            <a:ext cx="11786616" cy="10789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701ECB1-4076-1E69-CEFC-C9193AEC6D04}"/>
              </a:ext>
            </a:extLst>
          </p:cNvPr>
          <p:cNvSpPr/>
          <p:nvPr/>
        </p:nvSpPr>
        <p:spPr>
          <a:xfrm>
            <a:off x="201168" y="4617720"/>
            <a:ext cx="11786616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AF4BD01-E291-ED63-F06E-3AF803BB2857}"/>
              </a:ext>
            </a:extLst>
          </p:cNvPr>
          <p:cNvSpPr txBox="1"/>
          <p:nvPr/>
        </p:nvSpPr>
        <p:spPr>
          <a:xfrm>
            <a:off x="320040" y="46908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Times New Roman"/>
              </a:rPr>
              <a:t>Technologies Used: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F9A115C-290E-31DC-FAAA-996FA9B25F32}"/>
              </a:ext>
            </a:extLst>
          </p:cNvPr>
          <p:cNvSpPr/>
          <p:nvPr/>
        </p:nvSpPr>
        <p:spPr>
          <a:xfrm>
            <a:off x="246888" y="5038344"/>
            <a:ext cx="1783080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DD84E59-FAED-A474-DD2F-430642D69552}"/>
              </a:ext>
            </a:extLst>
          </p:cNvPr>
          <p:cNvSpPr/>
          <p:nvPr/>
        </p:nvSpPr>
        <p:spPr>
          <a:xfrm>
            <a:off x="246888" y="5038344"/>
            <a:ext cx="54864" cy="5486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7D12080-68AA-5156-0206-347988C30A11}"/>
              </a:ext>
            </a:extLst>
          </p:cNvPr>
          <p:cNvSpPr txBox="1"/>
          <p:nvPr/>
        </p:nvSpPr>
        <p:spPr>
          <a:xfrm>
            <a:off x="356616" y="5074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Times New Roman"/>
              </a:rPr>
              <a:t>Python 3.x + Flask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8056D56-A723-E960-9158-F460948F3511}"/>
              </a:ext>
            </a:extLst>
          </p:cNvPr>
          <p:cNvSpPr/>
          <p:nvPr/>
        </p:nvSpPr>
        <p:spPr>
          <a:xfrm>
            <a:off x="2167128" y="5038344"/>
            <a:ext cx="1783080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6FE0232-4CFD-8DE2-2AD6-55A8AF7025DA}"/>
              </a:ext>
            </a:extLst>
          </p:cNvPr>
          <p:cNvSpPr/>
          <p:nvPr/>
        </p:nvSpPr>
        <p:spPr>
          <a:xfrm>
            <a:off x="2167128" y="5038344"/>
            <a:ext cx="54864" cy="54864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DFABCF8-668D-50A7-43B6-702FD4052417}"/>
              </a:ext>
            </a:extLst>
          </p:cNvPr>
          <p:cNvSpPr txBox="1"/>
          <p:nvPr/>
        </p:nvSpPr>
        <p:spPr>
          <a:xfrm>
            <a:off x="2276856" y="5074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76"/>
                </a:solidFill>
                <a:latin typeface="Times New Roman"/>
              </a:rPr>
              <a:t>scikit-learn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05BB2BB-4BC9-E521-ACB5-A5FF0AF507A1}"/>
              </a:ext>
            </a:extLst>
          </p:cNvPr>
          <p:cNvSpPr/>
          <p:nvPr/>
        </p:nvSpPr>
        <p:spPr>
          <a:xfrm>
            <a:off x="4087368" y="5038344"/>
            <a:ext cx="1783080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E55ACFD-7C68-2C5C-6C20-B1163A2A9010}"/>
              </a:ext>
            </a:extLst>
          </p:cNvPr>
          <p:cNvSpPr/>
          <p:nvPr/>
        </p:nvSpPr>
        <p:spPr>
          <a:xfrm>
            <a:off x="4087368" y="5038344"/>
            <a:ext cx="54864" cy="54864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CD3ABF4-95AB-456D-9A6A-E96E51B06E84}"/>
              </a:ext>
            </a:extLst>
          </p:cNvPr>
          <p:cNvSpPr txBox="1"/>
          <p:nvPr/>
        </p:nvSpPr>
        <p:spPr>
          <a:xfrm>
            <a:off x="4197096" y="5074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Times New Roman"/>
              </a:rPr>
              <a:t>XGBoost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CC158F2-44BE-0C57-2CA6-E56822E99110}"/>
              </a:ext>
            </a:extLst>
          </p:cNvPr>
          <p:cNvSpPr/>
          <p:nvPr/>
        </p:nvSpPr>
        <p:spPr>
          <a:xfrm>
            <a:off x="6007608" y="5038344"/>
            <a:ext cx="1783080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4764A39-3F74-C59A-991E-98A138BD3846}"/>
              </a:ext>
            </a:extLst>
          </p:cNvPr>
          <p:cNvSpPr/>
          <p:nvPr/>
        </p:nvSpPr>
        <p:spPr>
          <a:xfrm>
            <a:off x="6007608" y="5038344"/>
            <a:ext cx="54864" cy="5486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6E8A430-CF67-78E7-947F-5A6620F4279E}"/>
              </a:ext>
            </a:extLst>
          </p:cNvPr>
          <p:cNvSpPr txBox="1"/>
          <p:nvPr/>
        </p:nvSpPr>
        <p:spPr>
          <a:xfrm>
            <a:off x="6117336" y="5074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  <a:latin typeface="Times New Roman"/>
              </a:rPr>
              <a:t>SHAP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6CEF074-828D-E00A-1F58-5C12A6BBDD13}"/>
              </a:ext>
            </a:extLst>
          </p:cNvPr>
          <p:cNvSpPr/>
          <p:nvPr/>
        </p:nvSpPr>
        <p:spPr>
          <a:xfrm>
            <a:off x="7927848" y="5038344"/>
            <a:ext cx="1783080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CEDA7C2-4F04-3A62-C416-27E23EAEBC59}"/>
              </a:ext>
            </a:extLst>
          </p:cNvPr>
          <p:cNvSpPr/>
          <p:nvPr/>
        </p:nvSpPr>
        <p:spPr>
          <a:xfrm>
            <a:off x="7927848" y="5038344"/>
            <a:ext cx="54864" cy="5486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A46B4BA-05FE-70D6-0147-7F608EABC015}"/>
              </a:ext>
            </a:extLst>
          </p:cNvPr>
          <p:cNvSpPr txBox="1"/>
          <p:nvPr/>
        </p:nvSpPr>
        <p:spPr>
          <a:xfrm>
            <a:off x="8037576" y="5074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Times New Roman"/>
              </a:rPr>
              <a:t>Pandas / NumPy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B177C31-D8A4-C562-F44A-7F995B49815D}"/>
              </a:ext>
            </a:extLst>
          </p:cNvPr>
          <p:cNvSpPr/>
          <p:nvPr/>
        </p:nvSpPr>
        <p:spPr>
          <a:xfrm>
            <a:off x="9848088" y="5038344"/>
            <a:ext cx="1783080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F18C9F1-F501-B30B-B25A-3EDF452C18F4}"/>
              </a:ext>
            </a:extLst>
          </p:cNvPr>
          <p:cNvSpPr/>
          <p:nvPr/>
        </p:nvSpPr>
        <p:spPr>
          <a:xfrm>
            <a:off x="9848088" y="5038344"/>
            <a:ext cx="54864" cy="5486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C6DD74C-98CA-E1DB-2A35-12F857EA3827}"/>
              </a:ext>
            </a:extLst>
          </p:cNvPr>
          <p:cNvSpPr txBox="1"/>
          <p:nvPr/>
        </p:nvSpPr>
        <p:spPr>
          <a:xfrm>
            <a:off x="9957816" y="5074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Times New Roman"/>
              </a:rPr>
              <a:t>Bootstrap 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6A9D13A-7CF5-341B-D748-FEA12CC59FD1}"/>
              </a:ext>
            </a:extLst>
          </p:cNvPr>
          <p:cNvSpPr txBox="1"/>
          <p:nvPr/>
        </p:nvSpPr>
        <p:spPr>
          <a:xfrm>
            <a:off x="228600" y="5779008"/>
            <a:ext cx="11731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8"/>
                </a:solidFill>
                <a:latin typeface="Times New Roman"/>
              </a:rPr>
              <a:t>★  The Flask app auto-selects the best ML model via StratifiedKFold CV, generates 10 visualisation charts, provides SHAP explanations, and exports timestamped CSV reports.</a:t>
            </a:r>
          </a:p>
        </p:txBody>
      </p:sp>
    </p:spTree>
    <p:extLst>
      <p:ext uri="{BB962C8B-B14F-4D97-AF65-F5344CB8AC3E}">
        <p14:creationId xmlns:p14="http://schemas.microsoft.com/office/powerpoint/2010/main" val="3752480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E13E8-8AF2-19B2-AB04-8FB5E3261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Times New Roman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0BD67-53EC-949F-BD3F-FD7BBAED0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9C42A6-F5EF-3022-A9FA-8431BB8C8B4F}"/>
              </a:ext>
            </a:extLst>
          </p:cNvPr>
          <p:cNvSpPr txBox="1"/>
          <p:nvPr/>
        </p:nvSpPr>
        <p:spPr>
          <a:xfrm>
            <a:off x="325862" y="1495417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5301" y="1930400"/>
            <a:ext cx="942535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sz="1500">
                <a:latin typeface="Times New Roman"/>
              </a:rPr>
              <a:t>1. Efficiently predict whether each student will Pass or Fail</a:t>
            </a:r>
          </a:p>
          <a:p>
            <a:endParaRPr sz="1500">
              <a:latin typeface="Times New Roman"/>
            </a:endParaRPr>
          </a:p>
          <a:p>
            <a:r>
              <a:rPr sz="1500">
                <a:latin typeface="Times New Roman"/>
              </a:rPr>
              <a:t>2. Maintain automated ML model training and selection pipeline</a:t>
            </a:r>
          </a:p>
          <a:p>
            <a:endParaRPr sz="1500">
              <a:latin typeface="Times New Roman"/>
            </a:endParaRPr>
          </a:p>
          <a:p>
            <a:r>
              <a:rPr sz="1500">
                <a:latin typeface="Times New Roman"/>
              </a:rPr>
              <a:t>3. Automate chart and report generation for every prediction run</a:t>
            </a:r>
          </a:p>
          <a:p>
            <a:endParaRPr sz="1500">
              <a:latin typeface="Times New Roman"/>
            </a:endParaRPr>
          </a:p>
          <a:p>
            <a:r>
              <a:rPr sz="1500">
                <a:latin typeface="Times New Roman"/>
              </a:rPr>
              <a:t>4. Provide quick access to individual student performance predictions</a:t>
            </a:r>
          </a:p>
          <a:p>
            <a:endParaRPr sz="1500">
              <a:latin typeface="Times New Roman"/>
            </a:endParaRPr>
          </a:p>
          <a:p>
            <a:r>
              <a:rPr sz="1500">
                <a:latin typeface="Times New Roman"/>
              </a:rPr>
              <a:t>5. Enhance transparency between teachers, students, and parents</a:t>
            </a:r>
          </a:p>
          <a:p>
            <a:r>
              <a:rPr sz="1500">
                <a:latin typeface="Times New Roman"/>
              </a:rPr>
              <a:t>   through SHAP-based explainable AI</a:t>
            </a:r>
          </a:p>
        </p:txBody>
      </p:sp>
    </p:spTree>
    <p:extLst>
      <p:ext uri="{BB962C8B-B14F-4D97-AF65-F5344CB8AC3E}">
        <p14:creationId xmlns:p14="http://schemas.microsoft.com/office/powerpoint/2010/main" val="532834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8EA82-77E0-657D-34E5-EFCD205C7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18" y="83581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600">
                <a:latin typeface="Times New Roman"/>
              </a:rPr>
              <a:t>6. Reduce manual assessment errors using data-driven ML predictions</a:t>
            </a:r>
          </a:p>
          <a:p>
            <a:endParaRPr sz="1600">
              <a:latin typeface="Times New Roman"/>
            </a:endParaRPr>
          </a:p>
          <a:p>
            <a:r>
              <a:rPr sz="1600">
                <a:latin typeface="Times New Roman"/>
              </a:rPr>
              <a:t>7. Save time and resources by automating the full prediction pipeline</a:t>
            </a:r>
          </a:p>
          <a:p>
            <a:endParaRPr sz="1600">
              <a:latin typeface="Times New Roman"/>
            </a:endParaRPr>
          </a:p>
          <a:p>
            <a:r>
              <a:rPr sz="1600">
                <a:latin typeface="Times New Roman"/>
              </a:rPr>
              <a:t>8. Generate 10+ visualisation charts for analysis and decision-making</a:t>
            </a:r>
          </a:p>
          <a:p>
            <a:endParaRPr sz="1600">
              <a:latin typeface="Times New Roman"/>
            </a:endParaRPr>
          </a:p>
          <a:p>
            <a:r>
              <a:rPr sz="1600">
                <a:latin typeface="Times New Roman"/>
              </a:rPr>
              <a:t>9. Secure model storage using model.pkl serialisation (Joblib)</a:t>
            </a:r>
          </a:p>
        </p:txBody>
      </p:sp>
    </p:spTree>
    <p:extLst>
      <p:ext uri="{BB962C8B-B14F-4D97-AF65-F5344CB8AC3E}">
        <p14:creationId xmlns:p14="http://schemas.microsoft.com/office/powerpoint/2010/main" val="4055320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851B7-5C49-D443-AAA5-922ACA0AD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720"/>
            <a:ext cx="10515600" cy="1325563"/>
          </a:xfrm>
        </p:spPr>
        <p:txBody>
          <a:bodyPr/>
          <a:lstStyle/>
          <a:p>
            <a:r>
              <a:rPr sz="3200" b="1">
                <a:latin typeface="Times New Roman"/>
              </a:rPr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C58C1-D535-69D4-FF01-98119A01E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974083" y="2647918"/>
            <a:ext cx="17930640" cy="30909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282A15-3550-326E-0202-89742FBA1A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408" y="1119182"/>
            <a:ext cx="9393159" cy="530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574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D208F-465E-0AF0-F979-D8258422C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923" y="447008"/>
            <a:ext cx="10515600" cy="5573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400" dirty="0">
                <a:latin typeface="Times New Roman"/>
              </a:rPr>
              <a:t>1. Dataset Design and Pre-processing</a:t>
            </a:r>
          </a:p>
          <a:p>
            <a:endParaRPr sz="1400" dirty="0">
              <a:latin typeface="Times New Roman"/>
            </a:endParaRPr>
          </a:p>
          <a:p>
            <a:r>
              <a:rPr sz="1400" dirty="0">
                <a:latin typeface="Times New Roman"/>
              </a:rPr>
              <a:t>Student Dataset:</a:t>
            </a:r>
          </a:p>
          <a:p>
            <a:r>
              <a:rPr sz="1400" dirty="0">
                <a:latin typeface="Times New Roman"/>
              </a:rPr>
              <a:t>* Student ID, School, Sex, Age, Study Time, Failures, Absences, etc.</a:t>
            </a:r>
          </a:p>
          <a:p>
            <a:endParaRPr sz="1400" dirty="0">
              <a:latin typeface="Times New Roman"/>
            </a:endParaRPr>
          </a:p>
          <a:p>
            <a:r>
              <a:rPr sz="1400" dirty="0">
                <a:latin typeface="Times New Roman"/>
              </a:rPr>
              <a:t>Data Preprocessing:</a:t>
            </a:r>
          </a:p>
          <a:p>
            <a:r>
              <a:rPr sz="1400" dirty="0">
                <a:latin typeface="Times New Roman"/>
              </a:rPr>
              <a:t>* </a:t>
            </a:r>
            <a:r>
              <a:rPr sz="1400" dirty="0" err="1">
                <a:latin typeface="Times New Roman"/>
              </a:rPr>
              <a:t>OneHotEncoding</a:t>
            </a:r>
            <a:r>
              <a:rPr sz="1400" dirty="0">
                <a:latin typeface="Times New Roman"/>
              </a:rPr>
              <a:t> for categorical features (school, sex, address, etc.)</a:t>
            </a:r>
          </a:p>
          <a:p>
            <a:r>
              <a:rPr sz="1400" dirty="0">
                <a:latin typeface="Times New Roman"/>
              </a:rPr>
              <a:t>* Passthrough for numeric features (age, absences, study time, etc.)</a:t>
            </a:r>
          </a:p>
          <a:p>
            <a:r>
              <a:rPr sz="1400" dirty="0">
                <a:latin typeface="Times New Roman"/>
              </a:rPr>
              <a:t>* Handling class imbalance using balanced class weights</a:t>
            </a:r>
          </a:p>
          <a:p>
            <a:endParaRPr sz="1400" dirty="0">
              <a:latin typeface="Times New Roman"/>
            </a:endParaRPr>
          </a:p>
          <a:p>
            <a:r>
              <a:rPr sz="1400" dirty="0">
                <a:latin typeface="Times New Roman"/>
              </a:rPr>
              <a:t>2. Feature Implementation</a:t>
            </a:r>
          </a:p>
          <a:p>
            <a:endParaRPr sz="1400" dirty="0">
              <a:latin typeface="Times New Roman"/>
            </a:endParaRPr>
          </a:p>
          <a:p>
            <a:r>
              <a:rPr sz="1400" dirty="0">
                <a:latin typeface="Times New Roman"/>
              </a:rPr>
              <a:t>ML Model Training:</a:t>
            </a:r>
          </a:p>
          <a:p>
            <a:r>
              <a:rPr sz="1400" dirty="0">
                <a:latin typeface="Times New Roman"/>
              </a:rPr>
              <a:t>* 5 algorithms: Logistic Regression, SVM (linear &amp; RBF), Random Forest, </a:t>
            </a:r>
            <a:r>
              <a:rPr sz="1400" dirty="0" err="1">
                <a:latin typeface="Times New Roman"/>
              </a:rPr>
              <a:t>XGBoost</a:t>
            </a:r>
            <a:endParaRPr sz="1400" dirty="0">
              <a:latin typeface="Times New Roman"/>
            </a:endParaRPr>
          </a:p>
          <a:p>
            <a:r>
              <a:rPr sz="1400" dirty="0">
                <a:latin typeface="Times New Roman"/>
              </a:rPr>
              <a:t>* Best model selected via </a:t>
            </a:r>
            <a:r>
              <a:rPr sz="1400" dirty="0" err="1">
                <a:latin typeface="Times New Roman"/>
              </a:rPr>
              <a:t>StratifiedKFold</a:t>
            </a:r>
            <a:r>
              <a:rPr sz="1400" dirty="0">
                <a:latin typeface="Times New Roman"/>
              </a:rPr>
              <a:t> cross-validation</a:t>
            </a:r>
          </a:p>
        </p:txBody>
      </p:sp>
    </p:spTree>
    <p:extLst>
      <p:ext uri="{BB962C8B-B14F-4D97-AF65-F5344CB8AC3E}">
        <p14:creationId xmlns:p14="http://schemas.microsoft.com/office/powerpoint/2010/main" val="3920620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DBC8B-53FB-9ABF-023B-65CEB598D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180" y="1691640"/>
            <a:ext cx="10515600" cy="47472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400">
                <a:latin typeface="Times New Roman"/>
              </a:rPr>
              <a:t>* Prediction Pipeline:</a:t>
            </a:r>
            <a:endParaRPr lang="en-US" sz="2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sz="1400">
                <a:latin typeface="Times New Roman"/>
              </a:rPr>
              <a:t>  CSV/Excel upload → Preprocessing → Prediction → Pass/Fail + Probability %</a:t>
            </a:r>
          </a:p>
          <a:p>
            <a:r>
              <a:rPr sz="1400">
                <a:latin typeface="Times New Roman"/>
              </a:rPr>
              <a:t>  Single student manual entry → Instant prediction with risk factor analysis</a:t>
            </a:r>
          </a:p>
          <a:p>
            <a:endParaRPr sz="1400">
              <a:latin typeface="Times New Roman"/>
            </a:endParaRPr>
          </a:p>
          <a:p>
            <a:r>
              <a:rPr sz="1400">
                <a:latin typeface="Times New Roman"/>
              </a:rPr>
              <a:t>3. System Integration and Interface</a:t>
            </a:r>
          </a:p>
          <a:p>
            <a:r>
              <a:rPr sz="1400">
                <a:latin typeface="Times New Roman"/>
              </a:rPr>
              <a:t>* Frontend:</a:t>
            </a:r>
          </a:p>
          <a:p>
            <a:r>
              <a:rPr sz="1400">
                <a:latin typeface="Times New Roman"/>
              </a:rPr>
              <a:t>  Bootstrap 5 responsive web interface</a:t>
            </a:r>
          </a:p>
          <a:p>
            <a:r>
              <a:rPr sz="1400">
                <a:latin typeface="Times New Roman"/>
              </a:rPr>
              <a:t>  3 tabs: Upload Dataset / Manual Entry / Default Dataset</a:t>
            </a:r>
          </a:p>
          <a:p>
            <a:r>
              <a:rPr sz="1400">
                <a:latin typeface="Times New Roman"/>
              </a:rPr>
              <a:t>* Backend:</a:t>
            </a:r>
          </a:p>
          <a:p>
            <a:r>
              <a:rPr sz="1400">
                <a:latin typeface="Times New Roman"/>
              </a:rPr>
              <a:t>  Flask web framework with Jinja2 template rendering</a:t>
            </a:r>
          </a:p>
          <a:p>
            <a:r>
              <a:rPr sz="1400">
                <a:latin typeface="Times New Roman"/>
              </a:rPr>
              <a:t>  Automated chart generation (10+ PNG visualisations)</a:t>
            </a:r>
          </a:p>
          <a:p>
            <a:r>
              <a:rPr sz="1400">
                <a:latin typeface="Times New Roman"/>
              </a:rPr>
              <a:t>  SHAP explainability, feature importance, confusion matrices</a:t>
            </a:r>
          </a:p>
          <a:p>
            <a:r>
              <a:rPr sz="1400">
                <a:latin typeface="Times New Roman"/>
              </a:rPr>
              <a:t>  Downloadable timestamped CSV prediction reports</a:t>
            </a:r>
          </a:p>
        </p:txBody>
      </p:sp>
    </p:spTree>
    <p:extLst>
      <p:ext uri="{BB962C8B-B14F-4D97-AF65-F5344CB8AC3E}">
        <p14:creationId xmlns:p14="http://schemas.microsoft.com/office/powerpoint/2010/main" val="1625321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A289-7EB6-E4C2-90DA-63DF44F4C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>
                <a:latin typeface="Times New Roman"/>
              </a:rPr>
              <a:t>Results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0E5055-F9A5-3839-A819-955D5D0B37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111" y="2730687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7661" y="2413338"/>
            <a:ext cx="1011310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>
                <a:latin typeface="Times New Roman"/>
              </a:rPr>
              <a:t>The system produces accurate and timely student performance predictions.</a:t>
            </a:r>
          </a:p>
          <a:p>
            <a:endParaRPr sz="1400">
              <a:latin typeface="Times New Roman"/>
            </a:endParaRPr>
          </a:p>
          <a:p>
            <a:r>
              <a:rPr sz="1400">
                <a:latin typeface="Times New Roman"/>
              </a:rPr>
              <a:t>Best Model: SVM (RBF kernel) — CV Accuracy: 70.1%  |  F1-Score: 0.765</a:t>
            </a:r>
          </a:p>
          <a:p>
            <a:endParaRPr sz="1400">
              <a:latin typeface="Times New Roman"/>
            </a:endParaRPr>
          </a:p>
          <a:p>
            <a:r>
              <a:rPr sz="1400">
                <a:latin typeface="Times New Roman"/>
              </a:rPr>
              <a:t>All 5 ML models evaluated: Logistic Regression, SVM (linear), SVM (RBF), Random Forest, and XGBoost — best selected automatically by cross-validation.</a:t>
            </a:r>
          </a:p>
          <a:p>
            <a:endParaRPr sz="1400">
              <a:latin typeface="Times New Roman"/>
            </a:endParaRPr>
          </a:p>
          <a:p>
            <a:r>
              <a:rPr sz="1400">
                <a:latin typeface="Times New Roman"/>
              </a:rPr>
              <a:t>10 automated visualisation charts generated per prediction run, including SHAP summary plots, confusion matrices, feature importance, and heatmaps.</a:t>
            </a:r>
          </a:p>
          <a:p>
            <a:endParaRPr sz="1400">
              <a:latin typeface="Times New Roman"/>
            </a:endParaRPr>
          </a:p>
          <a:p>
            <a:r>
              <a:rPr sz="1400">
                <a:latin typeface="Times New Roman"/>
              </a:rPr>
              <a:t>Personalised, AI-generated improvement tips provided for each student prediction.</a:t>
            </a:r>
          </a:p>
        </p:txBody>
      </p:sp>
    </p:spTree>
    <p:extLst>
      <p:ext uri="{BB962C8B-B14F-4D97-AF65-F5344CB8AC3E}">
        <p14:creationId xmlns:p14="http://schemas.microsoft.com/office/powerpoint/2010/main" val="2773996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B7A17-1BA0-E71F-BA7D-BFFEFB4FE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Times New Roman"/>
              </a:rPr>
              <a:t>Conclusion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240A7A-BAAE-F9FC-6970-30C8CC78FE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2440" y="2063680"/>
            <a:ext cx="1110234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400">
                <a:latin typeface="Times New Roman"/>
              </a:rPr>
              <a:t>The Intelligent Student Performance Prediction System modernises the way educational institutions identify and support at-risk students. By replacing manual assessment with an automated, ML-powered web platform, the system:</a:t>
            </a:r>
            <a:endParaRPr lang="en-US" alt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400">
                <a:latin typeface="Times New Roman"/>
              </a:rPr>
              <a:t>* Reduces subjectivity and administrative overhead in student evaluation.</a:t>
            </a:r>
          </a:p>
          <a:p>
            <a:r>
              <a:rPr sz="1400">
                <a:latin typeface="Times New Roman"/>
              </a:rPr>
              <a:t>* Improves transparency through SHAP-based explainable AI predictions.</a:t>
            </a:r>
          </a:p>
          <a:p>
            <a:r>
              <a:rPr sz="1400">
                <a:latin typeface="Times New Roman"/>
              </a:rPr>
              <a:t>* Enables proactive intervention with early, personalised risk identification.</a:t>
            </a:r>
          </a:p>
          <a:p>
            <a:r>
              <a:rPr sz="1400">
                <a:latin typeface="Times New Roman"/>
              </a:rPr>
              <a:t>* Empowers educators with data-driven decision-making tools and visual analytics.</a:t>
            </a:r>
          </a:p>
          <a:p>
            <a:r>
              <a:rPr sz="1400">
                <a:latin typeface="Times New Roman"/>
              </a:rPr>
              <a:t>* Delivers a complete end-to-end solution from data upload to downloadable reports.</a:t>
            </a:r>
          </a:p>
        </p:txBody>
      </p:sp>
    </p:spTree>
    <p:extLst>
      <p:ext uri="{BB962C8B-B14F-4D97-AF65-F5344CB8AC3E}">
        <p14:creationId xmlns:p14="http://schemas.microsoft.com/office/powerpoint/2010/main" val="2796826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D2605-4A08-EC17-CDE2-0E14BFF36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87" y="129450"/>
            <a:ext cx="10515600" cy="1325563"/>
          </a:xfrm>
        </p:spPr>
        <p:txBody>
          <a:bodyPr/>
          <a:lstStyle/>
          <a:p>
            <a:r>
              <a:rPr sz="3200" b="1">
                <a:latin typeface="Times New Roman"/>
              </a:rPr>
              <a:t>Future Enhancement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E5EA1-25A6-AD02-50D7-A31350EA3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861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15000"/>
              </a:lnSpc>
              <a:buNone/>
              <a:tabLst>
                <a:tab pos="457200" algn="l"/>
              </a:tabLst>
            </a:pPr>
            <a:r>
              <a:rPr sz="1600">
                <a:latin typeface="Times New Roman"/>
              </a:rPr>
              <a:t>* Integration with Deep Learning (LSTM / Neural Networks) for richer pattern detection</a:t>
            </a:r>
          </a:p>
          <a:p>
            <a:r>
              <a:rPr sz="1600">
                <a:latin typeface="Times New Roman"/>
              </a:rPr>
              <a:t>* Automated Real-Time Predictions for live student data streams</a:t>
            </a:r>
          </a:p>
          <a:p>
            <a:r>
              <a:rPr sz="1600">
                <a:latin typeface="Times New Roman"/>
              </a:rPr>
              <a:t>* Mobile Application for Students, Teachers, and Parents (React Native / Flutter)</a:t>
            </a:r>
          </a:p>
          <a:p>
            <a:r>
              <a:rPr sz="1600">
                <a:latin typeface="Times New Roman"/>
              </a:rPr>
              <a:t>* Cloud-Based Deployment on AWS / Heroku with CI/CD pipeline</a:t>
            </a:r>
          </a:p>
          <a:p>
            <a:r>
              <a:rPr sz="1600">
                <a:latin typeface="Times New Roman"/>
              </a:rPr>
              <a:t>* Email &amp; SMS Alerts for at-risk student early warning notifications</a:t>
            </a:r>
          </a:p>
          <a:p>
            <a:r>
              <a:rPr sz="1600">
                <a:latin typeface="Times New Roman"/>
              </a:rPr>
              <a:t>* Role-Based Access Control for Admins, Teachers, and Students</a:t>
            </a:r>
          </a:p>
          <a:p>
            <a:r>
              <a:rPr sz="1600">
                <a:latin typeface="Times New Roman"/>
              </a:rPr>
              <a:t>* Multi-Subject &amp; Multi-Grade Extension to cover all academic subjects</a:t>
            </a:r>
          </a:p>
          <a:p>
            <a:r>
              <a:rPr sz="1600">
                <a:latin typeface="Times New Roman"/>
              </a:rPr>
              <a:t>* REST API Integration with LMS platforms like Moodle and Canvas</a:t>
            </a:r>
          </a:p>
        </p:txBody>
      </p:sp>
    </p:spTree>
    <p:extLst>
      <p:ext uri="{BB962C8B-B14F-4D97-AF65-F5344CB8AC3E}">
        <p14:creationId xmlns:p14="http://schemas.microsoft.com/office/powerpoint/2010/main" val="3153580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1479A-3BA0-E0F0-4E1C-AAAA2641F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458" y="374552"/>
            <a:ext cx="10515600" cy="1325563"/>
          </a:xfrm>
        </p:spPr>
        <p:txBody>
          <a:bodyPr/>
          <a:lstStyle/>
          <a:p>
            <a:r>
              <a:rPr sz="3200" b="1" dirty="0">
                <a:latin typeface="Times New Roman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D83C2-4554-08B6-F75A-235951838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621" y="1892003"/>
            <a:ext cx="10854179" cy="4725235"/>
          </a:xfrm>
        </p:spPr>
        <p:txBody>
          <a:bodyPr>
            <a:normAutofit/>
          </a:bodyPr>
          <a:lstStyle/>
          <a:p>
            <a:pPr marL="0" marR="0" algn="just">
              <a:lnSpc>
                <a:spcPct val="150000"/>
              </a:lnSpc>
              <a:buNone/>
            </a:pPr>
            <a:r>
              <a:rPr sz="1300" dirty="0">
                <a:latin typeface="Times New Roman"/>
              </a:rPr>
              <a:t>WEBSITES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sz="1300" dirty="0">
                <a:latin typeface="Times New Roman"/>
              </a:rPr>
              <a:t> 1. scikit-learn.org — Machine Learning library documentation</a:t>
            </a:r>
          </a:p>
          <a:p>
            <a:r>
              <a:rPr sz="1300" dirty="0">
                <a:latin typeface="Times New Roman"/>
              </a:rPr>
              <a:t> 2. xgboost.readthedocs.io — </a:t>
            </a:r>
            <a:r>
              <a:rPr sz="1300" dirty="0" err="1">
                <a:latin typeface="Times New Roman"/>
              </a:rPr>
              <a:t>XGBoost</a:t>
            </a:r>
            <a:r>
              <a:rPr sz="1300" dirty="0">
                <a:latin typeface="Times New Roman"/>
              </a:rPr>
              <a:t> documentation</a:t>
            </a:r>
          </a:p>
          <a:p>
            <a:r>
              <a:rPr sz="1300" dirty="0">
                <a:latin typeface="Times New Roman"/>
              </a:rPr>
              <a:t> 3. shap.readthedocs.io — SHAP explainability library</a:t>
            </a:r>
          </a:p>
          <a:p>
            <a:r>
              <a:rPr sz="1300" dirty="0">
                <a:latin typeface="Times New Roman"/>
              </a:rPr>
              <a:t> 4. flask.palletsprojects.com — Flask web framework</a:t>
            </a:r>
          </a:p>
          <a:p>
            <a:r>
              <a:rPr sz="1300" dirty="0">
                <a:latin typeface="Times New Roman"/>
              </a:rPr>
              <a:t> 5. pandas.pydata.org — Data manipulation library</a:t>
            </a:r>
          </a:p>
          <a:p>
            <a:r>
              <a:rPr sz="1300" dirty="0">
                <a:latin typeface="Times New Roman"/>
              </a:rPr>
              <a:t> 6. python.org — Core language reference</a:t>
            </a:r>
          </a:p>
          <a:p>
            <a:endParaRPr sz="1300" dirty="0">
              <a:latin typeface="Times New Roman"/>
            </a:endParaRPr>
          </a:p>
          <a:p>
            <a:r>
              <a:rPr sz="1300" dirty="0">
                <a:latin typeface="Times New Roman"/>
              </a:rPr>
              <a:t>RESEARCH PAPERS</a:t>
            </a:r>
          </a:p>
          <a:p>
            <a:r>
              <a:rPr sz="1300" dirty="0">
                <a:latin typeface="Times New Roman"/>
              </a:rPr>
              <a:t> * Cortez, P. &amp; Silva, A.M.G. (2008). Using Data Mining to Predict Secondary School Student Performance. EUROSIS.</a:t>
            </a:r>
          </a:p>
          <a:p>
            <a:endParaRPr sz="1300" dirty="0">
              <a:latin typeface="Times New Roman"/>
            </a:endParaRPr>
          </a:p>
          <a:p>
            <a:r>
              <a:rPr sz="1300" dirty="0">
                <a:latin typeface="Times New Roman"/>
              </a:rPr>
              <a:t>This project demonstrates how open-source ML tools can be effectively used for intelligent student performance prediction. Libraries and frameworks such as Python, Flask, scikit-learn, </a:t>
            </a:r>
            <a:r>
              <a:rPr sz="1300" dirty="0" err="1">
                <a:latin typeface="Times New Roman"/>
              </a:rPr>
              <a:t>XGBoost</a:t>
            </a:r>
            <a:r>
              <a:rPr sz="1300" dirty="0">
                <a:latin typeface="Times New Roman"/>
              </a:rPr>
              <a:t>, SHAP, Pandas, Matplotlib, and Bootstrap 5 were used.</a:t>
            </a:r>
          </a:p>
        </p:txBody>
      </p:sp>
    </p:spTree>
    <p:extLst>
      <p:ext uri="{BB962C8B-B14F-4D97-AF65-F5344CB8AC3E}">
        <p14:creationId xmlns:p14="http://schemas.microsoft.com/office/powerpoint/2010/main" val="3760870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47F36-1CC7-548F-7A3A-095189F80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9600" y="1300480"/>
            <a:ext cx="9360851" cy="2148840"/>
          </a:xfrm>
        </p:spPr>
        <p:txBody>
          <a:bodyPr>
            <a:noAutofit/>
          </a:bodyPr>
          <a:lstStyle/>
          <a:p>
            <a:br>
              <a:rPr lang="en-US" sz="54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sz="2800" b="0" dirty="0">
                <a:latin typeface="Times New Roman"/>
              </a:rPr>
              <a:t>Thank You!</a:t>
            </a:r>
            <a:endParaRPr lang="en-IN" sz="3200" b="1" dirty="0"/>
          </a:p>
          <a:p>
            <a:endParaRPr lang="en-IN" sz="3200" b="1" dirty="0"/>
          </a:p>
          <a:p>
            <a:r>
              <a:rPr sz="2800" b="0" dirty="0">
                <a:latin typeface="Times New Roman"/>
              </a:rPr>
              <a:t>We are grateful for your time and attention.</a:t>
            </a:r>
          </a:p>
          <a:p>
            <a:endParaRPr sz="2800" b="0" dirty="0">
              <a:latin typeface="Times New Roman"/>
            </a:endParaRPr>
          </a:p>
          <a:p>
            <a:r>
              <a:rPr sz="2800" b="0" dirty="0">
                <a:latin typeface="Times New Roman"/>
              </a:rPr>
              <a:t>Team: Prajwal</a:t>
            </a:r>
            <a:r>
              <a:rPr lang="en-US" sz="2800" b="0" dirty="0">
                <a:latin typeface="Times New Roman"/>
              </a:rPr>
              <a:t> n</a:t>
            </a:r>
            <a:r>
              <a:rPr sz="2800" b="0" dirty="0">
                <a:latin typeface="Times New Roman"/>
              </a:rPr>
              <a:t>  |  </a:t>
            </a:r>
            <a:r>
              <a:rPr sz="2800" b="0" dirty="0" err="1">
                <a:latin typeface="Times New Roman"/>
              </a:rPr>
              <a:t>Varadaraju</a:t>
            </a:r>
            <a:r>
              <a:rPr sz="2800" b="0" dirty="0">
                <a:latin typeface="Times New Roman"/>
              </a:rPr>
              <a:t>  |  Girisha A</a:t>
            </a:r>
          </a:p>
          <a:p>
            <a:endParaRPr sz="2800" b="0" dirty="0">
              <a:latin typeface="Times New Roman"/>
            </a:endParaRPr>
          </a:p>
          <a:p>
            <a:r>
              <a:rPr sz="2800" b="0" dirty="0">
                <a:latin typeface="Times New Roman"/>
              </a:rPr>
              <a:t>Please let us know if you have any questions or suggestions!</a:t>
            </a:r>
          </a:p>
        </p:txBody>
      </p:sp>
    </p:spTree>
    <p:extLst>
      <p:ext uri="{BB962C8B-B14F-4D97-AF65-F5344CB8AC3E}">
        <p14:creationId xmlns:p14="http://schemas.microsoft.com/office/powerpoint/2010/main" val="19029556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EB8F22"/>
      </a:accent1>
      <a:accent2>
        <a:srgbClr val="CD4223"/>
      </a:accent2>
      <a:accent3>
        <a:srgbClr val="A89374"/>
      </a:accent3>
      <a:accent4>
        <a:srgbClr val="83AA67"/>
      </a:accent4>
      <a:accent5>
        <a:srgbClr val="4FA9C1"/>
      </a:accent5>
      <a:accent6>
        <a:srgbClr val="9390AF"/>
      </a:accent6>
      <a:hlink>
        <a:srgbClr val="EC7220"/>
      </a:hlink>
      <a:folHlink>
        <a:srgbClr val="F09355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EBEC8F79-A447-43FC-8E81-85E8468AF3F9}"/>
    </a:ext>
  </a:extLst>
</a:theme>
</file>

<file path=ppt/theme/theme3.xml><?xml version="1.0" encoding="utf-8"?>
<a:theme xmlns:a="http://schemas.openxmlformats.org/drawingml/2006/main" name="1_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8BB434"/>
      </a:accent1>
      <a:accent2>
        <a:srgbClr val="33A583"/>
      </a:accent2>
      <a:accent3>
        <a:srgbClr val="3594B4"/>
      </a:accent3>
      <a:accent4>
        <a:srgbClr val="6063B4"/>
      </a:accent4>
      <a:accent5>
        <a:srgbClr val="D35731"/>
      </a:accent5>
      <a:accent6>
        <a:srgbClr val="EBAC4B"/>
      </a:accent6>
      <a:hlink>
        <a:srgbClr val="65AD30"/>
      </a:hlink>
      <a:folHlink>
        <a:srgbClr val="8ED25B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1A9F9826-882C-40B9-8F38-5A3B8CFD196D}"/>
    </a:ext>
  </a:extLst>
</a:theme>
</file>

<file path=ppt/theme/theme4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7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807</TotalTime>
  <Words>1491</Words>
  <Application>Microsoft Office PowerPoint</Application>
  <PresentationFormat>Widescreen</PresentationFormat>
  <Paragraphs>198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17</vt:i4>
      </vt:variant>
    </vt:vector>
  </HeadingPairs>
  <TitlesOfParts>
    <vt:vector size="34" baseType="lpstr">
      <vt:lpstr>Arial</vt:lpstr>
      <vt:lpstr>Bodoni MT</vt:lpstr>
      <vt:lpstr>Calibri</vt:lpstr>
      <vt:lpstr>Calibri Light</vt:lpstr>
      <vt:lpstr>Corbel</vt:lpstr>
      <vt:lpstr>Times New Roman</vt:lpstr>
      <vt:lpstr>Trebuchet MS</vt:lpstr>
      <vt:lpstr>Tw Cen MT</vt:lpstr>
      <vt:lpstr>Tw Cen MT Condensed</vt:lpstr>
      <vt:lpstr>Wingdings 3</vt:lpstr>
      <vt:lpstr>Circuit</vt:lpstr>
      <vt:lpstr>Parallax</vt:lpstr>
      <vt:lpstr>1_Parallax</vt:lpstr>
      <vt:lpstr>Depth</vt:lpstr>
      <vt:lpstr>Office Theme</vt:lpstr>
      <vt:lpstr>Facet</vt:lpstr>
      <vt:lpstr>Integral</vt:lpstr>
      <vt:lpstr>  The National Degree College Bagepalli-561207 Department of Computer Science</vt:lpstr>
      <vt:lpstr>Agenda</vt:lpstr>
      <vt:lpstr>  Introduction</vt:lpstr>
      <vt:lpstr>PowerPoint Presentation</vt:lpstr>
      <vt:lpstr>PowerPoint Presentation</vt:lpstr>
      <vt:lpstr>Problem Statement</vt:lpstr>
      <vt:lpstr>PowerPoint Presentation</vt:lpstr>
      <vt:lpstr>Objectives</vt:lpstr>
      <vt:lpstr>PowerPoint Presentation</vt:lpstr>
      <vt:lpstr>Proposed Methodology</vt:lpstr>
      <vt:lpstr>PowerPoint Presentation</vt:lpstr>
      <vt:lpstr>PowerPoint Presentation</vt:lpstr>
      <vt:lpstr>Results</vt:lpstr>
      <vt:lpstr>Conclusion</vt:lpstr>
      <vt:lpstr>Future Enhancement</vt:lpstr>
      <vt:lpstr>References</vt:lpstr>
      <vt:lpstr>     Thank You!  We are grateful for your time and attention.  Team: Prajwal n  |  Varadaraju  |  Girisha A  Please let us know if you have any questions or suggestions!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National Degree College Bagepalli-561207 Department of computer science</dc:title>
  <dc:creator>Vyshnavi yshu</dc:creator>
  <cp:lastModifiedBy>prajwal n</cp:lastModifiedBy>
  <cp:revision>81</cp:revision>
  <dcterms:created xsi:type="dcterms:W3CDTF">2025-04-15T08:43:49Z</dcterms:created>
  <dcterms:modified xsi:type="dcterms:W3CDTF">2026-03-12T17:08:21Z</dcterms:modified>
</cp:coreProperties>
</file>